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Oswald ExtraLight"/>
      <p:regular r:id="rId36"/>
      <p:bold r:id="rId37"/>
    </p:embeddedFont>
    <p:embeddedFont>
      <p:font typeface="Oswald Light"/>
      <p:regular r:id="rId38"/>
      <p:bold r:id="rId39"/>
    </p:embeddedFont>
    <p:embeddedFont>
      <p:font typeface="Oswald"/>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swald-regular.fntdata"/><Relationship Id="rId20" Type="http://schemas.openxmlformats.org/officeDocument/2006/relationships/slide" Target="slides/slide15.xml"/><Relationship Id="rId41" Type="http://schemas.openxmlformats.org/officeDocument/2006/relationships/font" Target="fonts/Oswald-bold.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OswaldExtraLight-bold.fntdata"/><Relationship Id="rId14" Type="http://schemas.openxmlformats.org/officeDocument/2006/relationships/slide" Target="slides/slide9.xml"/><Relationship Id="rId36" Type="http://schemas.openxmlformats.org/officeDocument/2006/relationships/font" Target="fonts/OswaldExtraLight-regular.fntdata"/><Relationship Id="rId17" Type="http://schemas.openxmlformats.org/officeDocument/2006/relationships/slide" Target="slides/slide12.xml"/><Relationship Id="rId39" Type="http://schemas.openxmlformats.org/officeDocument/2006/relationships/font" Target="fonts/OswaldLight-bold.fntdata"/><Relationship Id="rId16" Type="http://schemas.openxmlformats.org/officeDocument/2006/relationships/slide" Target="slides/slide11.xml"/><Relationship Id="rId38" Type="http://schemas.openxmlformats.org/officeDocument/2006/relationships/font" Target="fonts/OswaldLight-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6ae331867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6ae331867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3d5d1ea3a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3d5d1ea3a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3d5d1ea3a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3d5d1ea3a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3d5d1ea3a9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3d5d1ea3a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44f1ed4e19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44f1ed4e19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6d4fb64a6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6d4fb64a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3d5d1ea3a9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3d5d1ea3a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3d5d1ea3a9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3d5d1ea3a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6d4fb64a6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6d4fb64a6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6d4fb64a6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6d4fb64a6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752321743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752321743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6d4fb64a6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6d4fb64a6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6d4fb64a66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6d4fb64a66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6d4fb64a66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6d4fb64a6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6d4fb64a66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6d4fb64a6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6d4fb64a66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6d4fb64a66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6d4fb64a6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6d4fb64a6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6d4fb64a66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6d4fb64a66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6d4fb64a6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6d4fb64a66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6d4fb64a66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6d4fb64a66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6d4fb64a66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6d4fb64a66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6d4fb64a66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6d4fb64a66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6d4fb64a66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6d4fb64a66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6d4fb64a66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6d4fb64a66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44f1ed4e19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44f1ed4e19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44f1ed4e19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44f1ed4e19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44f1ed4e19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44f1ed4e19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6d4fb64a66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6d4fb64a66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6d4fb64a66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6d4fb64a66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BCEAB2">
            <a:alpha val="88680"/>
          </a:srgbClr>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jpg"/><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3.jpg"/><Relationship Id="rId4" Type="http://schemas.openxmlformats.org/officeDocument/2006/relationships/image" Target="../media/image1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gif"/><Relationship Id="rId4" Type="http://schemas.openxmlformats.org/officeDocument/2006/relationships/image" Target="../media/image9.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0.jpg"/><Relationship Id="rId4" Type="http://schemas.openxmlformats.org/officeDocument/2006/relationships/image" Target="../media/image1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9.jpg"/><Relationship Id="rId4" Type="http://schemas.openxmlformats.org/officeDocument/2006/relationships/image" Target="../media/image2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1545450"/>
            <a:ext cx="8520600" cy="2052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solidFill>
                  <a:srgbClr val="274E13"/>
                </a:solidFill>
                <a:latin typeface="Oswald Light"/>
                <a:ea typeface="Oswald Light"/>
                <a:cs typeface="Oswald Light"/>
                <a:sym typeface="Oswald Light"/>
              </a:rPr>
              <a:t>Water Level Sensors</a:t>
            </a:r>
            <a:endParaRPr>
              <a:solidFill>
                <a:srgbClr val="274E13"/>
              </a:solidFill>
              <a:latin typeface="Oswald Light"/>
              <a:ea typeface="Oswald Light"/>
              <a:cs typeface="Oswald Light"/>
              <a:sym typeface="Oswald Light"/>
            </a:endParaRPr>
          </a:p>
          <a:p>
            <a:pPr indent="0" lvl="0" marL="0" rtl="0" algn="ctr">
              <a:spcBef>
                <a:spcPts val="0"/>
              </a:spcBef>
              <a:spcAft>
                <a:spcPts val="0"/>
              </a:spcAft>
              <a:buNone/>
            </a:pPr>
            <a:r>
              <a:rPr lang="en">
                <a:solidFill>
                  <a:srgbClr val="274E13"/>
                </a:solidFill>
                <a:latin typeface="Oswald Light"/>
                <a:ea typeface="Oswald Light"/>
                <a:cs typeface="Oswald Light"/>
                <a:sym typeface="Oswald Light"/>
              </a:rPr>
              <a:t>in Environmental </a:t>
            </a:r>
            <a:r>
              <a:rPr lang="en">
                <a:solidFill>
                  <a:srgbClr val="274E13"/>
                </a:solidFill>
                <a:latin typeface="Oswald Light"/>
                <a:ea typeface="Oswald Light"/>
                <a:cs typeface="Oswald Light"/>
                <a:sym typeface="Oswald Light"/>
              </a:rPr>
              <a:t>Science</a:t>
            </a:r>
            <a:endParaRPr>
              <a:solidFill>
                <a:srgbClr val="274E13"/>
              </a:solidFill>
              <a:latin typeface="Oswald Light"/>
              <a:ea typeface="Oswald Light"/>
              <a:cs typeface="Oswald Light"/>
              <a:sym typeface="Oswald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597000" y="936400"/>
            <a:ext cx="7950000" cy="1937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5200">
                <a:solidFill>
                  <a:srgbClr val="274E13"/>
                </a:solidFill>
                <a:latin typeface="Oswald Light"/>
                <a:ea typeface="Oswald Light"/>
                <a:cs typeface="Oswald Light"/>
                <a:sym typeface="Oswald Light"/>
              </a:rPr>
              <a:t>Understanding the Water Cycle with Water Level Sensors</a:t>
            </a:r>
            <a:endParaRPr sz="5200">
              <a:solidFill>
                <a:srgbClr val="274E13"/>
              </a:solidFill>
              <a:latin typeface="Oswald Light"/>
              <a:ea typeface="Oswald Light"/>
              <a:cs typeface="Oswald Light"/>
              <a:sym typeface="Oswald Light"/>
            </a:endParaRPr>
          </a:p>
        </p:txBody>
      </p:sp>
      <p:sp>
        <p:nvSpPr>
          <p:cNvPr id="60" name="Google Shape;60;p14"/>
          <p:cNvSpPr txBox="1"/>
          <p:nvPr/>
        </p:nvSpPr>
        <p:spPr>
          <a:xfrm>
            <a:off x="2208300" y="2930650"/>
            <a:ext cx="47274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rgbClr val="6AA84F"/>
                </a:solidFill>
                <a:latin typeface="Oswald Light"/>
                <a:ea typeface="Oswald Light"/>
                <a:cs typeface="Oswald Light"/>
                <a:sym typeface="Oswald Light"/>
              </a:rPr>
              <a:t>Middle School Level</a:t>
            </a:r>
            <a:endParaRPr sz="3500">
              <a:solidFill>
                <a:srgbClr val="6AA84F"/>
              </a:solidFill>
              <a:latin typeface="Oswald Light"/>
              <a:ea typeface="Oswald Light"/>
              <a:cs typeface="Oswald Light"/>
              <a:sym typeface="Oswald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115200" y="445025"/>
            <a:ext cx="375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Oswald Light"/>
                <a:ea typeface="Oswald Light"/>
                <a:cs typeface="Oswald Light"/>
                <a:sym typeface="Oswald Light"/>
              </a:rPr>
              <a:t>What is the Water Cycle?</a:t>
            </a:r>
            <a:endParaRPr sz="3220">
              <a:latin typeface="Oswald Light"/>
              <a:ea typeface="Oswald Light"/>
              <a:cs typeface="Oswald Light"/>
              <a:sym typeface="Oswald Light"/>
            </a:endParaRPr>
          </a:p>
        </p:txBody>
      </p:sp>
      <p:sp>
        <p:nvSpPr>
          <p:cNvPr id="66" name="Google Shape;66;p15"/>
          <p:cNvSpPr txBox="1"/>
          <p:nvPr>
            <p:ph idx="1" type="body"/>
          </p:nvPr>
        </p:nvSpPr>
        <p:spPr>
          <a:xfrm>
            <a:off x="311700" y="1429225"/>
            <a:ext cx="3560700" cy="1542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000">
                <a:latin typeface="Oswald ExtraLight"/>
                <a:ea typeface="Oswald ExtraLight"/>
                <a:cs typeface="Oswald ExtraLight"/>
                <a:sym typeface="Oswald ExtraLight"/>
              </a:rPr>
              <a:t>The water cycle is a system that shows you that the water on Earth is constantly moving and changing its state of matter. </a:t>
            </a:r>
            <a:endParaRPr sz="2000">
              <a:latin typeface="Oswald ExtraLight"/>
              <a:ea typeface="Oswald ExtraLight"/>
              <a:cs typeface="Oswald ExtraLight"/>
              <a:sym typeface="Oswald ExtraLight"/>
            </a:endParaRPr>
          </a:p>
        </p:txBody>
      </p:sp>
      <p:pic>
        <p:nvPicPr>
          <p:cNvPr id="67" name="Google Shape;67;p15"/>
          <p:cNvPicPr preferRelativeResize="0"/>
          <p:nvPr/>
        </p:nvPicPr>
        <p:blipFill>
          <a:blip r:embed="rId3">
            <a:alphaModFix/>
          </a:blip>
          <a:stretch>
            <a:fillRect/>
          </a:stretch>
        </p:blipFill>
        <p:spPr>
          <a:xfrm>
            <a:off x="4068900" y="2135127"/>
            <a:ext cx="4814324" cy="27073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141100" y="279775"/>
            <a:ext cx="6002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Oswald Light"/>
                <a:ea typeface="Oswald Light"/>
                <a:cs typeface="Oswald Light"/>
                <a:sym typeface="Oswald Light"/>
              </a:rPr>
              <a:t>What are the Stages of the Water Cycle?</a:t>
            </a:r>
            <a:endParaRPr sz="3220">
              <a:latin typeface="Oswald Light"/>
              <a:ea typeface="Oswald Light"/>
              <a:cs typeface="Oswald Light"/>
              <a:sym typeface="Oswald Light"/>
            </a:endParaRPr>
          </a:p>
        </p:txBody>
      </p:sp>
      <p:sp>
        <p:nvSpPr>
          <p:cNvPr id="73" name="Google Shape;73;p16"/>
          <p:cNvSpPr txBox="1"/>
          <p:nvPr>
            <p:ph idx="1" type="body"/>
          </p:nvPr>
        </p:nvSpPr>
        <p:spPr>
          <a:xfrm>
            <a:off x="311700" y="1024125"/>
            <a:ext cx="5304300" cy="3936300"/>
          </a:xfrm>
          <a:prstGeom prst="rect">
            <a:avLst/>
          </a:prstGeom>
        </p:spPr>
        <p:txBody>
          <a:bodyPr anchorCtr="0" anchor="t" bIns="91425" lIns="91425" spcFirstLastPara="1" rIns="91425" wrap="square" tIns="91425">
            <a:normAutofit/>
          </a:bodyPr>
          <a:lstStyle/>
          <a:p>
            <a:pPr indent="-342900" lvl="0" marL="457200" rtl="0" algn="l">
              <a:lnSpc>
                <a:spcPct val="105000"/>
              </a:lnSpc>
              <a:spcBef>
                <a:spcPts val="0"/>
              </a:spcBef>
              <a:spcAft>
                <a:spcPts val="0"/>
              </a:spcAft>
              <a:buSzPts val="1800"/>
              <a:buFont typeface="Oswald ExtraLight"/>
              <a:buAutoNum type="arabicPeriod"/>
            </a:pPr>
            <a:r>
              <a:rPr lang="en">
                <a:latin typeface="Oswald ExtraLight"/>
                <a:ea typeface="Oswald ExtraLight"/>
                <a:cs typeface="Oswald ExtraLight"/>
                <a:sym typeface="Oswald ExtraLight"/>
              </a:rPr>
              <a:t>Evaporation - This is where liquid water in places like oceans, rivers, and lakes heat up so much that it turns into a gas called water vapor. </a:t>
            </a:r>
            <a:endParaRPr>
              <a:latin typeface="Oswald ExtraLight"/>
              <a:ea typeface="Oswald ExtraLight"/>
              <a:cs typeface="Oswald ExtraLight"/>
              <a:sym typeface="Oswald ExtraLight"/>
            </a:endParaRPr>
          </a:p>
          <a:p>
            <a:pPr indent="-342900" lvl="0" marL="457200" rtl="0" algn="l">
              <a:lnSpc>
                <a:spcPct val="105000"/>
              </a:lnSpc>
              <a:spcBef>
                <a:spcPts val="0"/>
              </a:spcBef>
              <a:spcAft>
                <a:spcPts val="0"/>
              </a:spcAft>
              <a:buSzPts val="1800"/>
              <a:buFont typeface="Oswald ExtraLight"/>
              <a:buAutoNum type="arabicPeriod"/>
            </a:pPr>
            <a:r>
              <a:rPr lang="en">
                <a:latin typeface="Oswald ExtraLight"/>
                <a:ea typeface="Oswald ExtraLight"/>
                <a:cs typeface="Oswald ExtraLight"/>
                <a:sym typeface="Oswald ExtraLight"/>
              </a:rPr>
              <a:t>Condensation - When the water vapor begins to rise, it also starts to cool causing the gas vapor to turn back into a liquid. This liquid groups together to form a cloud or ice crystals. </a:t>
            </a:r>
            <a:endParaRPr>
              <a:latin typeface="Oswald ExtraLight"/>
              <a:ea typeface="Oswald ExtraLight"/>
              <a:cs typeface="Oswald ExtraLight"/>
              <a:sym typeface="Oswald ExtraLight"/>
            </a:endParaRPr>
          </a:p>
          <a:p>
            <a:pPr indent="-342900" lvl="0" marL="457200" rtl="0" algn="l">
              <a:lnSpc>
                <a:spcPct val="105000"/>
              </a:lnSpc>
              <a:spcBef>
                <a:spcPts val="0"/>
              </a:spcBef>
              <a:spcAft>
                <a:spcPts val="0"/>
              </a:spcAft>
              <a:buSzPts val="1800"/>
              <a:buFont typeface="Oswald ExtraLight"/>
              <a:buAutoNum type="arabicPeriod"/>
            </a:pPr>
            <a:r>
              <a:rPr lang="en">
                <a:latin typeface="Oswald ExtraLight"/>
                <a:ea typeface="Oswald ExtraLight"/>
                <a:cs typeface="Oswald ExtraLight"/>
                <a:sym typeface="Oswald ExtraLight"/>
              </a:rPr>
              <a:t>Precipitation  - When the water droplets begin to get heavy they start to fall back to Earth in the form of rain, snow, sleet, or hail. </a:t>
            </a:r>
            <a:endParaRPr>
              <a:latin typeface="Oswald ExtraLight"/>
              <a:ea typeface="Oswald ExtraLight"/>
              <a:cs typeface="Oswald ExtraLight"/>
              <a:sym typeface="Oswald ExtraLight"/>
            </a:endParaRPr>
          </a:p>
          <a:p>
            <a:pPr indent="-342900" lvl="0" marL="457200" rtl="0" algn="l">
              <a:lnSpc>
                <a:spcPct val="105000"/>
              </a:lnSpc>
              <a:spcBef>
                <a:spcPts val="0"/>
              </a:spcBef>
              <a:spcAft>
                <a:spcPts val="0"/>
              </a:spcAft>
              <a:buSzPts val="1800"/>
              <a:buFont typeface="Oswald ExtraLight"/>
              <a:buAutoNum type="arabicPeriod"/>
            </a:pPr>
            <a:r>
              <a:rPr lang="en">
                <a:latin typeface="Oswald ExtraLight"/>
                <a:ea typeface="Oswald ExtraLight"/>
                <a:cs typeface="Oswald ExtraLight"/>
                <a:sym typeface="Oswald ExtraLight"/>
              </a:rPr>
              <a:t>Runoff - Once the precipitation has reached land it may begin to flow down hills and back into bodies of water like lakes, rivers, streams, and then eventually the ocean. </a:t>
            </a:r>
            <a:endParaRPr>
              <a:latin typeface="Oswald ExtraLight"/>
              <a:ea typeface="Oswald ExtraLight"/>
              <a:cs typeface="Oswald ExtraLight"/>
              <a:sym typeface="Oswald ExtraLight"/>
            </a:endParaRPr>
          </a:p>
          <a:p>
            <a:pPr indent="-342900" lvl="0" marL="457200" rtl="0" algn="l">
              <a:lnSpc>
                <a:spcPct val="105000"/>
              </a:lnSpc>
              <a:spcBef>
                <a:spcPts val="0"/>
              </a:spcBef>
              <a:spcAft>
                <a:spcPts val="0"/>
              </a:spcAft>
              <a:buSzPts val="1800"/>
              <a:buFont typeface="Oswald ExtraLight"/>
              <a:buAutoNum type="arabicPeriod"/>
            </a:pPr>
            <a:r>
              <a:rPr lang="en">
                <a:latin typeface="Oswald ExtraLight"/>
                <a:ea typeface="Oswald ExtraLight"/>
                <a:cs typeface="Oswald ExtraLight"/>
                <a:sym typeface="Oswald ExtraLight"/>
              </a:rPr>
              <a:t>Repeat </a:t>
            </a:r>
            <a:endParaRPr>
              <a:latin typeface="Oswald ExtraLight"/>
              <a:ea typeface="Oswald ExtraLight"/>
              <a:cs typeface="Oswald ExtraLight"/>
              <a:sym typeface="Oswald ExtraLight"/>
            </a:endParaRPr>
          </a:p>
        </p:txBody>
      </p:sp>
      <p:pic>
        <p:nvPicPr>
          <p:cNvPr id="74" name="Google Shape;74;p16"/>
          <p:cNvPicPr preferRelativeResize="0"/>
          <p:nvPr/>
        </p:nvPicPr>
        <p:blipFill>
          <a:blip r:embed="rId3">
            <a:alphaModFix/>
          </a:blip>
          <a:stretch>
            <a:fillRect/>
          </a:stretch>
        </p:blipFill>
        <p:spPr>
          <a:xfrm>
            <a:off x="5762800" y="957350"/>
            <a:ext cx="3228801" cy="32288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1086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3211">
                <a:latin typeface="Oswald Light"/>
                <a:ea typeface="Oswald Light"/>
                <a:cs typeface="Oswald Light"/>
                <a:sym typeface="Oswald Light"/>
              </a:rPr>
              <a:t>How Can We Measure the Changes of the Water Cycle in a Classroom?</a:t>
            </a:r>
            <a:endParaRPr sz="3211">
              <a:latin typeface="Oswald Light"/>
              <a:ea typeface="Oswald Light"/>
              <a:cs typeface="Oswald Light"/>
              <a:sym typeface="Oswald Light"/>
            </a:endParaRPr>
          </a:p>
        </p:txBody>
      </p:sp>
      <p:sp>
        <p:nvSpPr>
          <p:cNvPr id="80" name="Google Shape;80;p17"/>
          <p:cNvSpPr txBox="1"/>
          <p:nvPr>
            <p:ph idx="1" type="body"/>
          </p:nvPr>
        </p:nvSpPr>
        <p:spPr>
          <a:xfrm>
            <a:off x="311700" y="1655075"/>
            <a:ext cx="8520600" cy="322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a:latin typeface="Oswald"/>
                <a:ea typeface="Oswald"/>
                <a:cs typeface="Oswald"/>
                <a:sym typeface="Oswald"/>
              </a:rPr>
              <a:t>Activity 1: </a:t>
            </a:r>
            <a:endParaRPr b="1" sz="2000">
              <a:latin typeface="Oswald"/>
              <a:ea typeface="Oswald"/>
              <a:cs typeface="Oswald"/>
              <a:sym typeface="Oswald"/>
            </a:endParaRPr>
          </a:p>
          <a:p>
            <a:pPr indent="-355600" lvl="0" marL="457200" rtl="0" algn="l">
              <a:spcBef>
                <a:spcPts val="1200"/>
              </a:spcBef>
              <a:spcAft>
                <a:spcPts val="0"/>
              </a:spcAft>
              <a:buSzPts val="2000"/>
              <a:buFont typeface="Oswald ExtraLight"/>
              <a:buChar char="-"/>
            </a:pPr>
            <a:r>
              <a:rPr lang="en" sz="2000">
                <a:latin typeface="Oswald ExtraLight"/>
                <a:ea typeface="Oswald ExtraLight"/>
                <a:cs typeface="Oswald ExtraLight"/>
                <a:sym typeface="Oswald ExtraLight"/>
              </a:rPr>
              <a:t>By using a water level sensor we can simulate evaporation. You can do this by filling a bowl or container with water and placing outside with the water level sensor attached. The students will get to measure how water level drops slowly over sunny days and will be able to link the disappearing water to evaporation rather than leaks or absorption.</a:t>
            </a:r>
            <a:endParaRPr sz="2000">
              <a:latin typeface="Oswald ExtraLight"/>
              <a:ea typeface="Oswald ExtraLight"/>
              <a:cs typeface="Oswald ExtraLight"/>
              <a:sym typeface="Oswald Extra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3875700" cy="2008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3211">
                <a:latin typeface="Oswald Light"/>
                <a:ea typeface="Oswald Light"/>
                <a:cs typeface="Oswald Light"/>
                <a:sym typeface="Oswald Light"/>
              </a:rPr>
              <a:t>How Can We Measure the Changes of the Water Cycle in a Classroom?</a:t>
            </a:r>
            <a:endParaRPr sz="3211">
              <a:latin typeface="Oswald Light"/>
              <a:ea typeface="Oswald Light"/>
              <a:cs typeface="Oswald Light"/>
              <a:sym typeface="Oswald Light"/>
            </a:endParaRPr>
          </a:p>
        </p:txBody>
      </p:sp>
      <p:sp>
        <p:nvSpPr>
          <p:cNvPr id="86" name="Google Shape;86;p18"/>
          <p:cNvSpPr txBox="1"/>
          <p:nvPr>
            <p:ph idx="1" type="body"/>
          </p:nvPr>
        </p:nvSpPr>
        <p:spPr>
          <a:xfrm>
            <a:off x="4572000" y="534650"/>
            <a:ext cx="4202400" cy="4231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a:latin typeface="Oswald"/>
                <a:ea typeface="Oswald"/>
                <a:cs typeface="Oswald"/>
                <a:sym typeface="Oswald"/>
              </a:rPr>
              <a:t>Activity 2:</a:t>
            </a:r>
            <a:endParaRPr b="1" sz="2000">
              <a:latin typeface="Oswald"/>
              <a:ea typeface="Oswald"/>
              <a:cs typeface="Oswald"/>
              <a:sym typeface="Oswald"/>
            </a:endParaRPr>
          </a:p>
          <a:p>
            <a:pPr indent="-368300" lvl="0" marL="457200" rtl="0" algn="l">
              <a:spcBef>
                <a:spcPts val="1200"/>
              </a:spcBef>
              <a:spcAft>
                <a:spcPts val="0"/>
              </a:spcAft>
              <a:buSzPts val="2200"/>
              <a:buFont typeface="Oswald ExtraLight"/>
              <a:buChar char="-"/>
            </a:pPr>
            <a:r>
              <a:rPr lang="en" sz="2000">
                <a:latin typeface="Oswald ExtraLight"/>
                <a:ea typeface="Oswald ExtraLight"/>
                <a:cs typeface="Oswald ExtraLight"/>
                <a:sym typeface="Oswald ExtraLight"/>
              </a:rPr>
              <a:t>Using the water level sensor we can track daily water level changes in places like ponds, wetlands, or in a simulated tank. This would demonstrate that water is constantly moving into and out of storage places in the environment. Students will be able to connect the rise of water level to precipitation or runoffs and the drop of water level to evaporation. </a:t>
            </a:r>
            <a:endParaRPr b="1" sz="2200">
              <a:latin typeface="Oswald"/>
              <a:ea typeface="Oswald"/>
              <a:cs typeface="Oswald"/>
              <a:sym typeface="Oswald"/>
            </a:endParaRPr>
          </a:p>
        </p:txBody>
      </p:sp>
      <p:pic>
        <p:nvPicPr>
          <p:cNvPr descr="Landscaped Koi Pond (Provided by Getty Images)" id="87" name="Google Shape;87;p18"/>
          <p:cNvPicPr preferRelativeResize="0"/>
          <p:nvPr/>
        </p:nvPicPr>
        <p:blipFill>
          <a:blip r:embed="rId3">
            <a:alphaModFix/>
          </a:blip>
          <a:stretch>
            <a:fillRect/>
          </a:stretch>
        </p:blipFill>
        <p:spPr>
          <a:xfrm>
            <a:off x="600875" y="2276150"/>
            <a:ext cx="3586519" cy="2385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Oswald Light"/>
                <a:ea typeface="Oswald Light"/>
                <a:cs typeface="Oswald Light"/>
                <a:sym typeface="Oswald Light"/>
              </a:rPr>
              <a:t>How the Sensor Helps</a:t>
            </a:r>
            <a:endParaRPr sz="3220">
              <a:latin typeface="Oswald Light"/>
              <a:ea typeface="Oswald Light"/>
              <a:cs typeface="Oswald Light"/>
              <a:sym typeface="Oswald Light"/>
            </a:endParaRPr>
          </a:p>
        </p:txBody>
      </p:sp>
      <p:sp>
        <p:nvSpPr>
          <p:cNvPr id="93" name="Google Shape;93;p19"/>
          <p:cNvSpPr txBox="1"/>
          <p:nvPr>
            <p:ph idx="1" type="body"/>
          </p:nvPr>
        </p:nvSpPr>
        <p:spPr>
          <a:xfrm>
            <a:off x="311700" y="1152475"/>
            <a:ext cx="5194800" cy="3416400"/>
          </a:xfrm>
          <a:prstGeom prst="rect">
            <a:avLst/>
          </a:prstGeom>
        </p:spPr>
        <p:txBody>
          <a:bodyPr anchorCtr="0" anchor="t" bIns="91425" lIns="91425" spcFirstLastPara="1" rIns="91425" wrap="square" tIns="91425">
            <a:normAutofit/>
          </a:bodyPr>
          <a:lstStyle/>
          <a:p>
            <a:pPr indent="0" lvl="0" marL="0" rtl="0" algn="l">
              <a:lnSpc>
                <a:spcPct val="200000"/>
              </a:lnSpc>
              <a:spcBef>
                <a:spcPts val="0"/>
              </a:spcBef>
              <a:spcAft>
                <a:spcPts val="0"/>
              </a:spcAft>
              <a:buNone/>
            </a:pPr>
            <a:r>
              <a:rPr lang="en" sz="2000">
                <a:latin typeface="Oswald ExtraLight"/>
                <a:ea typeface="Oswald ExtraLight"/>
                <a:cs typeface="Oswald ExtraLight"/>
                <a:sym typeface="Oswald ExtraLight"/>
              </a:rPr>
              <a:t>The IO Rodeo water level sensor helps students:</a:t>
            </a:r>
            <a:endParaRPr sz="2000">
              <a:latin typeface="Oswald ExtraLight"/>
              <a:ea typeface="Oswald ExtraLight"/>
              <a:cs typeface="Oswald ExtraLight"/>
              <a:sym typeface="Oswald ExtraLight"/>
            </a:endParaRPr>
          </a:p>
          <a:p>
            <a:pPr indent="-355600" lvl="0" marL="457200" rtl="0" algn="l">
              <a:lnSpc>
                <a:spcPct val="200000"/>
              </a:lnSpc>
              <a:spcBef>
                <a:spcPts val="1200"/>
              </a:spcBef>
              <a:spcAft>
                <a:spcPts val="0"/>
              </a:spcAft>
              <a:buSzPts val="2000"/>
              <a:buFont typeface="Oswald ExtraLight"/>
              <a:buChar char="-"/>
            </a:pPr>
            <a:r>
              <a:rPr lang="en" sz="2000">
                <a:latin typeface="Oswald ExtraLight"/>
                <a:ea typeface="Oswald ExtraLight"/>
                <a:cs typeface="Oswald ExtraLight"/>
                <a:sym typeface="Oswald ExtraLight"/>
              </a:rPr>
              <a:t>Measure water in a clear tank to simulate rainfall</a:t>
            </a:r>
            <a:endParaRPr sz="2000">
              <a:latin typeface="Oswald ExtraLight"/>
              <a:ea typeface="Oswald ExtraLight"/>
              <a:cs typeface="Oswald ExtraLight"/>
              <a:sym typeface="Oswald ExtraLight"/>
            </a:endParaRPr>
          </a:p>
          <a:p>
            <a:pPr indent="-355600" lvl="0" marL="457200" rtl="0" algn="l">
              <a:lnSpc>
                <a:spcPct val="200000"/>
              </a:lnSpc>
              <a:spcBef>
                <a:spcPts val="0"/>
              </a:spcBef>
              <a:spcAft>
                <a:spcPts val="0"/>
              </a:spcAft>
              <a:buSzPts val="2000"/>
              <a:buFont typeface="Oswald ExtraLight"/>
              <a:buChar char="-"/>
            </a:pPr>
            <a:r>
              <a:rPr lang="en" sz="2000">
                <a:latin typeface="Oswald ExtraLight"/>
                <a:ea typeface="Oswald ExtraLight"/>
                <a:cs typeface="Oswald ExtraLight"/>
                <a:sym typeface="Oswald ExtraLight"/>
              </a:rPr>
              <a:t>Track evaporation by watching water levels drop</a:t>
            </a:r>
            <a:endParaRPr sz="2000">
              <a:latin typeface="Oswald ExtraLight"/>
              <a:ea typeface="Oswald ExtraLight"/>
              <a:cs typeface="Oswald ExtraLight"/>
              <a:sym typeface="Oswald ExtraLight"/>
            </a:endParaRPr>
          </a:p>
          <a:p>
            <a:pPr indent="-355600" lvl="0" marL="457200" rtl="0" algn="l">
              <a:lnSpc>
                <a:spcPct val="200000"/>
              </a:lnSpc>
              <a:spcBef>
                <a:spcPts val="0"/>
              </a:spcBef>
              <a:spcAft>
                <a:spcPts val="0"/>
              </a:spcAft>
              <a:buSzPts val="2000"/>
              <a:buFont typeface="Oswald ExtraLight"/>
              <a:buChar char="-"/>
            </a:pPr>
            <a:r>
              <a:rPr lang="en" sz="2000">
                <a:latin typeface="Oswald ExtraLight"/>
                <a:ea typeface="Oswald ExtraLight"/>
                <a:cs typeface="Oswald ExtraLight"/>
                <a:sym typeface="Oswald ExtraLight"/>
              </a:rPr>
              <a:t>See how water flows in a model of hills or a </a:t>
            </a:r>
            <a:r>
              <a:rPr lang="en" sz="2000">
                <a:latin typeface="Oswald ExtraLight"/>
                <a:ea typeface="Oswald ExtraLight"/>
                <a:cs typeface="Oswald ExtraLight"/>
                <a:sym typeface="Oswald ExtraLight"/>
              </a:rPr>
              <a:t>schoolyard</a:t>
            </a:r>
            <a:endParaRPr sz="2000">
              <a:latin typeface="Oswald ExtraLight"/>
              <a:ea typeface="Oswald ExtraLight"/>
              <a:cs typeface="Oswald ExtraLight"/>
              <a:sym typeface="Oswald ExtraLight"/>
            </a:endParaRPr>
          </a:p>
          <a:p>
            <a:pPr indent="-355600" lvl="0" marL="457200" rtl="0" algn="l">
              <a:lnSpc>
                <a:spcPct val="200000"/>
              </a:lnSpc>
              <a:spcBef>
                <a:spcPts val="0"/>
              </a:spcBef>
              <a:spcAft>
                <a:spcPts val="0"/>
              </a:spcAft>
              <a:buSzPts val="2000"/>
              <a:buFont typeface="Oswald ExtraLight"/>
              <a:buChar char="-"/>
            </a:pPr>
            <a:r>
              <a:rPr lang="en" sz="2000">
                <a:latin typeface="Oswald ExtraLight"/>
                <a:ea typeface="Oswald ExtraLight"/>
                <a:cs typeface="Oswald ExtraLight"/>
                <a:sym typeface="Oswald ExtraLight"/>
              </a:rPr>
              <a:t>Collect real data to understand runoff and drainage</a:t>
            </a:r>
            <a:endParaRPr sz="2000">
              <a:latin typeface="Oswald ExtraLight"/>
              <a:ea typeface="Oswald ExtraLight"/>
              <a:cs typeface="Oswald ExtraLight"/>
              <a:sym typeface="Oswald ExtraLight"/>
            </a:endParaRPr>
          </a:p>
        </p:txBody>
      </p:sp>
      <p:pic>
        <p:nvPicPr>
          <p:cNvPr id="94" name="Google Shape;94;p19"/>
          <p:cNvPicPr preferRelativeResize="0"/>
          <p:nvPr/>
        </p:nvPicPr>
        <p:blipFill>
          <a:blip r:embed="rId3">
            <a:alphaModFix/>
          </a:blip>
          <a:stretch>
            <a:fillRect/>
          </a:stretch>
        </p:blipFill>
        <p:spPr>
          <a:xfrm>
            <a:off x="5658900" y="1170125"/>
            <a:ext cx="3332700" cy="328826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597000" y="936400"/>
            <a:ext cx="7950000" cy="1937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sz="5200">
                <a:solidFill>
                  <a:srgbClr val="274E13"/>
                </a:solidFill>
                <a:latin typeface="Oswald Light"/>
                <a:ea typeface="Oswald Light"/>
                <a:cs typeface="Oswald Light"/>
                <a:sym typeface="Oswald Light"/>
              </a:rPr>
              <a:t>Understanding the Floods and Climate Change with a Water Level Sensor</a:t>
            </a:r>
            <a:endParaRPr sz="5200">
              <a:solidFill>
                <a:srgbClr val="274E13"/>
              </a:solidFill>
              <a:latin typeface="Oswald Light"/>
              <a:ea typeface="Oswald Light"/>
              <a:cs typeface="Oswald Light"/>
              <a:sym typeface="Oswald Light"/>
            </a:endParaRPr>
          </a:p>
        </p:txBody>
      </p:sp>
      <p:sp>
        <p:nvSpPr>
          <p:cNvPr id="100" name="Google Shape;100;p20"/>
          <p:cNvSpPr txBox="1"/>
          <p:nvPr/>
        </p:nvSpPr>
        <p:spPr>
          <a:xfrm>
            <a:off x="2208300" y="2930650"/>
            <a:ext cx="47274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rgbClr val="6AA84F"/>
                </a:solidFill>
                <a:latin typeface="Oswald Light"/>
                <a:ea typeface="Oswald Light"/>
                <a:cs typeface="Oswald Light"/>
                <a:sym typeface="Oswald Light"/>
              </a:rPr>
              <a:t>Middle School Level</a:t>
            </a:r>
            <a:endParaRPr sz="3500">
              <a:solidFill>
                <a:srgbClr val="6AA84F"/>
              </a:solidFill>
              <a:latin typeface="Oswald Light"/>
              <a:ea typeface="Oswald Light"/>
              <a:cs typeface="Oswald Light"/>
              <a:sym typeface="Oswald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115200" y="445025"/>
            <a:ext cx="375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Oswald Light"/>
                <a:ea typeface="Oswald Light"/>
                <a:cs typeface="Oswald Light"/>
                <a:sym typeface="Oswald Light"/>
              </a:rPr>
              <a:t>What is Climate Change?</a:t>
            </a:r>
            <a:endParaRPr sz="3220">
              <a:latin typeface="Oswald Light"/>
              <a:ea typeface="Oswald Light"/>
              <a:cs typeface="Oswald Light"/>
              <a:sym typeface="Oswald Light"/>
            </a:endParaRPr>
          </a:p>
        </p:txBody>
      </p:sp>
      <p:sp>
        <p:nvSpPr>
          <p:cNvPr id="106" name="Google Shape;106;p21"/>
          <p:cNvSpPr txBox="1"/>
          <p:nvPr>
            <p:ph idx="1" type="body"/>
          </p:nvPr>
        </p:nvSpPr>
        <p:spPr>
          <a:xfrm>
            <a:off x="311700" y="1429225"/>
            <a:ext cx="3560700" cy="1542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000">
                <a:latin typeface="Oswald ExtraLight"/>
                <a:ea typeface="Oswald ExtraLight"/>
                <a:cs typeface="Oswald ExtraLight"/>
                <a:sym typeface="Oswald ExtraLight"/>
              </a:rPr>
              <a:t>Climate change is changes in Earth’s weather </a:t>
            </a:r>
            <a:r>
              <a:rPr lang="en" sz="2000">
                <a:latin typeface="Oswald ExtraLight"/>
                <a:ea typeface="Oswald ExtraLight"/>
                <a:cs typeface="Oswald ExtraLight"/>
                <a:sym typeface="Oswald ExtraLight"/>
              </a:rPr>
              <a:t>pattern</a:t>
            </a:r>
            <a:r>
              <a:rPr lang="en" sz="2000">
                <a:latin typeface="Oswald ExtraLight"/>
                <a:ea typeface="Oswald ExtraLight"/>
                <a:cs typeface="Oswald ExtraLight"/>
                <a:sym typeface="Oswald ExtraLight"/>
              </a:rPr>
              <a:t> and average temperatures over a long period of time. </a:t>
            </a:r>
            <a:endParaRPr sz="2000">
              <a:latin typeface="Oswald ExtraLight"/>
              <a:ea typeface="Oswald ExtraLight"/>
              <a:cs typeface="Oswald ExtraLight"/>
              <a:sym typeface="Oswald ExtraLight"/>
            </a:endParaRPr>
          </a:p>
        </p:txBody>
      </p:sp>
      <p:sp>
        <p:nvSpPr>
          <p:cNvPr id="107" name="Google Shape;107;p21"/>
          <p:cNvSpPr txBox="1"/>
          <p:nvPr>
            <p:ph type="title"/>
          </p:nvPr>
        </p:nvSpPr>
        <p:spPr>
          <a:xfrm>
            <a:off x="4984750" y="2571750"/>
            <a:ext cx="375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Oswald Light"/>
                <a:ea typeface="Oswald Light"/>
                <a:cs typeface="Oswald Light"/>
                <a:sym typeface="Oswald Light"/>
              </a:rPr>
              <a:t>What is a Flood?</a:t>
            </a:r>
            <a:endParaRPr sz="3220">
              <a:latin typeface="Oswald Light"/>
              <a:ea typeface="Oswald Light"/>
              <a:cs typeface="Oswald Light"/>
              <a:sym typeface="Oswald Light"/>
            </a:endParaRPr>
          </a:p>
        </p:txBody>
      </p:sp>
      <p:sp>
        <p:nvSpPr>
          <p:cNvPr id="108" name="Google Shape;108;p21"/>
          <p:cNvSpPr txBox="1"/>
          <p:nvPr>
            <p:ph idx="1" type="body"/>
          </p:nvPr>
        </p:nvSpPr>
        <p:spPr>
          <a:xfrm>
            <a:off x="5083000" y="3390600"/>
            <a:ext cx="3560700" cy="1542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000">
                <a:latin typeface="Oswald ExtraLight"/>
                <a:ea typeface="Oswald ExtraLight"/>
                <a:cs typeface="Oswald ExtraLight"/>
                <a:sym typeface="Oswald ExtraLight"/>
              </a:rPr>
              <a:t>A flood happens when water rises higher than normal and spills onto land where it doesn’t belong</a:t>
            </a:r>
            <a:endParaRPr sz="2000">
              <a:latin typeface="Oswald ExtraLight"/>
              <a:ea typeface="Oswald ExtraLight"/>
              <a:cs typeface="Oswald ExtraLight"/>
              <a:sym typeface="Oswald ExtraLight"/>
            </a:endParaRPr>
          </a:p>
        </p:txBody>
      </p:sp>
      <p:pic>
        <p:nvPicPr>
          <p:cNvPr descr="Aerial view of flooded houses with dirty water of Dnister river in Halych town, western Ukraine. (Provided by Getty Images)" id="109" name="Google Shape;109;p21"/>
          <p:cNvPicPr preferRelativeResize="0"/>
          <p:nvPr/>
        </p:nvPicPr>
        <p:blipFill>
          <a:blip r:embed="rId3">
            <a:alphaModFix/>
          </a:blip>
          <a:stretch>
            <a:fillRect/>
          </a:stretch>
        </p:blipFill>
        <p:spPr>
          <a:xfrm>
            <a:off x="4681925" y="133050"/>
            <a:ext cx="4317174" cy="2438699"/>
          </a:xfrm>
          <a:prstGeom prst="rect">
            <a:avLst/>
          </a:prstGeom>
          <a:noFill/>
          <a:ln>
            <a:noFill/>
          </a:ln>
        </p:spPr>
      </p:pic>
      <p:pic>
        <p:nvPicPr>
          <p:cNvPr descr="Tsunami with big waves over planet. Catastrophe, cataclysm. Flood, avalanche, hurricane. Climate change. Global warming (Provided by Getty Images)" id="110" name="Google Shape;110;p21"/>
          <p:cNvPicPr preferRelativeResize="0"/>
          <p:nvPr/>
        </p:nvPicPr>
        <p:blipFill>
          <a:blip r:embed="rId4">
            <a:alphaModFix/>
          </a:blip>
          <a:stretch>
            <a:fillRect/>
          </a:stretch>
        </p:blipFill>
        <p:spPr>
          <a:xfrm>
            <a:off x="455338" y="2971825"/>
            <a:ext cx="3273426" cy="18668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445025"/>
            <a:ext cx="58542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latin typeface="Oswald Light"/>
                <a:ea typeface="Oswald Light"/>
                <a:cs typeface="Oswald Light"/>
                <a:sym typeface="Oswald Light"/>
              </a:rPr>
              <a:t>How does Climate Change affect Floods?</a:t>
            </a:r>
            <a:endParaRPr sz="3200">
              <a:latin typeface="Oswald Light"/>
              <a:ea typeface="Oswald Light"/>
              <a:cs typeface="Oswald Light"/>
              <a:sym typeface="Oswald Light"/>
            </a:endParaRPr>
          </a:p>
        </p:txBody>
      </p:sp>
      <p:sp>
        <p:nvSpPr>
          <p:cNvPr id="116" name="Google Shape;116;p22"/>
          <p:cNvSpPr txBox="1"/>
          <p:nvPr>
            <p:ph idx="1" type="body"/>
          </p:nvPr>
        </p:nvSpPr>
        <p:spPr>
          <a:xfrm>
            <a:off x="311700" y="1152475"/>
            <a:ext cx="6483900" cy="381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latin typeface="Oswald ExtraLight"/>
                <a:ea typeface="Oswald ExtraLight"/>
                <a:cs typeface="Oswald ExtraLight"/>
                <a:sym typeface="Oswald ExtraLight"/>
              </a:rPr>
              <a:t>Climate change can cause storms to become more intense and stronger. This leads to more rainfall. </a:t>
            </a:r>
            <a:endParaRPr sz="2000">
              <a:latin typeface="Oswald ExtraLight"/>
              <a:ea typeface="Oswald ExtraLight"/>
              <a:cs typeface="Oswald ExtraLight"/>
              <a:sym typeface="Oswald ExtraLight"/>
            </a:endParaRPr>
          </a:p>
          <a:p>
            <a:pPr indent="0" lvl="0" marL="0" rtl="0" algn="l">
              <a:spcBef>
                <a:spcPts val="1200"/>
              </a:spcBef>
              <a:spcAft>
                <a:spcPts val="0"/>
              </a:spcAft>
              <a:buNone/>
            </a:pPr>
            <a:r>
              <a:rPr lang="en" sz="2000">
                <a:latin typeface="Oswald ExtraLight"/>
                <a:ea typeface="Oswald ExtraLight"/>
                <a:cs typeface="Oswald ExtraLight"/>
                <a:sym typeface="Oswald ExtraLight"/>
              </a:rPr>
              <a:t>What impacts does this have:</a:t>
            </a:r>
            <a:endParaRPr sz="2000">
              <a:latin typeface="Oswald ExtraLight"/>
              <a:ea typeface="Oswald ExtraLight"/>
              <a:cs typeface="Oswald ExtraLight"/>
              <a:sym typeface="Oswald ExtraLight"/>
            </a:endParaRPr>
          </a:p>
          <a:p>
            <a:pPr indent="-355600" lvl="0" marL="457200" rtl="0" algn="l">
              <a:spcBef>
                <a:spcPts val="1200"/>
              </a:spcBef>
              <a:spcAft>
                <a:spcPts val="0"/>
              </a:spcAft>
              <a:buSzPts val="2000"/>
              <a:buFont typeface="Oswald ExtraLight"/>
              <a:buChar char="-"/>
            </a:pPr>
            <a:r>
              <a:rPr lang="en" sz="2000">
                <a:latin typeface="Oswald ExtraLight"/>
                <a:ea typeface="Oswald ExtraLight"/>
                <a:cs typeface="Oswald ExtraLight"/>
                <a:sym typeface="Oswald ExtraLight"/>
              </a:rPr>
              <a:t>Coastal flooding</a:t>
            </a:r>
            <a:endParaRPr sz="2000">
              <a:latin typeface="Oswald ExtraLight"/>
              <a:ea typeface="Oswald ExtraLight"/>
              <a:cs typeface="Oswald ExtraLight"/>
              <a:sym typeface="Oswald ExtraLight"/>
            </a:endParaRPr>
          </a:p>
          <a:p>
            <a:pPr indent="-355600" lvl="0" marL="457200" rtl="0" algn="l">
              <a:spcBef>
                <a:spcPts val="0"/>
              </a:spcBef>
              <a:spcAft>
                <a:spcPts val="0"/>
              </a:spcAft>
              <a:buSzPts val="2000"/>
              <a:buFont typeface="Oswald ExtraLight"/>
              <a:buChar char="-"/>
            </a:pPr>
            <a:r>
              <a:rPr lang="en" sz="2000">
                <a:latin typeface="Oswald ExtraLight"/>
                <a:ea typeface="Oswald ExtraLight"/>
                <a:cs typeface="Oswald ExtraLight"/>
                <a:sym typeface="Oswald ExtraLight"/>
              </a:rPr>
              <a:t>Rising sea levels</a:t>
            </a:r>
            <a:endParaRPr sz="2000">
              <a:latin typeface="Oswald ExtraLight"/>
              <a:ea typeface="Oswald ExtraLight"/>
              <a:cs typeface="Oswald ExtraLight"/>
              <a:sym typeface="Oswald ExtraLight"/>
            </a:endParaRPr>
          </a:p>
          <a:p>
            <a:pPr indent="-355600" lvl="0" marL="457200" rtl="0" algn="l">
              <a:spcBef>
                <a:spcPts val="0"/>
              </a:spcBef>
              <a:spcAft>
                <a:spcPts val="0"/>
              </a:spcAft>
              <a:buSzPts val="2000"/>
              <a:buFont typeface="Oswald ExtraLight"/>
              <a:buChar char="-"/>
            </a:pPr>
            <a:r>
              <a:rPr lang="en" sz="2000">
                <a:latin typeface="Oswald ExtraLight"/>
                <a:ea typeface="Oswald ExtraLight"/>
                <a:cs typeface="Oswald ExtraLight"/>
                <a:sym typeface="Oswald ExtraLight"/>
              </a:rPr>
              <a:t>Melting of snow and ice</a:t>
            </a:r>
            <a:endParaRPr sz="2000">
              <a:latin typeface="Oswald ExtraLight"/>
              <a:ea typeface="Oswald ExtraLight"/>
              <a:cs typeface="Oswald ExtraLight"/>
              <a:sym typeface="Oswald ExtraLight"/>
            </a:endParaRPr>
          </a:p>
          <a:p>
            <a:pPr indent="-355600" lvl="0" marL="457200" rtl="0" algn="l">
              <a:spcBef>
                <a:spcPts val="0"/>
              </a:spcBef>
              <a:spcAft>
                <a:spcPts val="0"/>
              </a:spcAft>
              <a:buSzPts val="2000"/>
              <a:buFont typeface="Oswald ExtraLight"/>
              <a:buChar char="-"/>
            </a:pPr>
            <a:r>
              <a:rPr lang="en" sz="2000">
                <a:latin typeface="Oswald ExtraLight"/>
                <a:ea typeface="Oswald ExtraLight"/>
                <a:cs typeface="Oswald ExtraLight"/>
                <a:sym typeface="Oswald ExtraLight"/>
              </a:rPr>
              <a:t>Water levels rising</a:t>
            </a:r>
            <a:endParaRPr sz="2000">
              <a:latin typeface="Oswald ExtraLight"/>
              <a:ea typeface="Oswald ExtraLight"/>
              <a:cs typeface="Oswald ExtraLight"/>
              <a:sym typeface="Oswald ExtraLight"/>
            </a:endParaRPr>
          </a:p>
          <a:p>
            <a:pPr indent="0" lvl="0" marL="0" rtl="0" algn="l">
              <a:spcBef>
                <a:spcPts val="1200"/>
              </a:spcBef>
              <a:spcAft>
                <a:spcPts val="1200"/>
              </a:spcAft>
              <a:buNone/>
            </a:pPr>
            <a:r>
              <a:rPr lang="en" sz="2000">
                <a:latin typeface="Oswald ExtraLight"/>
                <a:ea typeface="Oswald ExtraLight"/>
                <a:cs typeface="Oswald ExtraLight"/>
                <a:sym typeface="Oswald ExtraLight"/>
              </a:rPr>
              <a:t>This means floods are becoming more severe and can impact many communities near water. </a:t>
            </a:r>
            <a:endParaRPr sz="2000">
              <a:latin typeface="Oswald ExtraLight"/>
              <a:ea typeface="Oswald ExtraLight"/>
              <a:cs typeface="Oswald ExtraLight"/>
              <a:sym typeface="Oswald ExtraLight"/>
            </a:endParaRPr>
          </a:p>
        </p:txBody>
      </p:sp>
      <p:pic>
        <p:nvPicPr>
          <p:cNvPr descr="Ocean waves on the beach with bright sun (Provided by Getty Images)" id="117" name="Google Shape;117;p22"/>
          <p:cNvPicPr preferRelativeResize="0"/>
          <p:nvPr/>
        </p:nvPicPr>
        <p:blipFill>
          <a:blip r:embed="rId3">
            <a:alphaModFix/>
          </a:blip>
          <a:stretch>
            <a:fillRect/>
          </a:stretch>
        </p:blipFill>
        <p:spPr>
          <a:xfrm>
            <a:off x="6023850" y="3130098"/>
            <a:ext cx="2455572" cy="1841676"/>
          </a:xfrm>
          <a:prstGeom prst="rect">
            <a:avLst/>
          </a:prstGeom>
          <a:noFill/>
          <a:ln>
            <a:noFill/>
          </a:ln>
        </p:spPr>
      </p:pic>
      <p:pic>
        <p:nvPicPr>
          <p:cNvPr descr="Hurricane Ian Slams Into West Coast Of Florida (Provided by Getty Images)" id="118" name="Google Shape;118;p22"/>
          <p:cNvPicPr preferRelativeResize="0"/>
          <p:nvPr/>
        </p:nvPicPr>
        <p:blipFill>
          <a:blip r:embed="rId4">
            <a:alphaModFix/>
          </a:blip>
          <a:stretch>
            <a:fillRect/>
          </a:stretch>
        </p:blipFill>
        <p:spPr>
          <a:xfrm>
            <a:off x="5716251" y="1650900"/>
            <a:ext cx="2763177" cy="1841675"/>
          </a:xfrm>
          <a:prstGeom prst="rect">
            <a:avLst/>
          </a:prstGeom>
          <a:noFill/>
          <a:ln>
            <a:noFill/>
          </a:ln>
        </p:spPr>
      </p:pic>
      <p:pic>
        <p:nvPicPr>
          <p:cNvPr descr="River ice. (Provided by Getty Images)" id="119" name="Google Shape;119;p22"/>
          <p:cNvPicPr preferRelativeResize="0"/>
          <p:nvPr/>
        </p:nvPicPr>
        <p:blipFill>
          <a:blip r:embed="rId5">
            <a:alphaModFix/>
          </a:blip>
          <a:stretch>
            <a:fillRect/>
          </a:stretch>
        </p:blipFill>
        <p:spPr>
          <a:xfrm>
            <a:off x="4497400" y="1650900"/>
            <a:ext cx="1526450" cy="22986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311700" y="445025"/>
            <a:ext cx="8520600" cy="1086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3211">
                <a:latin typeface="Oswald Light"/>
                <a:ea typeface="Oswald Light"/>
                <a:cs typeface="Oswald Light"/>
                <a:sym typeface="Oswald Light"/>
              </a:rPr>
              <a:t>How Can We Measure Floods Caused by Climate Change in the Classroom?</a:t>
            </a:r>
            <a:endParaRPr sz="3211">
              <a:latin typeface="Oswald Light"/>
              <a:ea typeface="Oswald Light"/>
              <a:cs typeface="Oswald Light"/>
              <a:sym typeface="Oswald Light"/>
            </a:endParaRPr>
          </a:p>
        </p:txBody>
      </p:sp>
      <p:sp>
        <p:nvSpPr>
          <p:cNvPr id="125" name="Google Shape;125;p23"/>
          <p:cNvSpPr txBox="1"/>
          <p:nvPr>
            <p:ph idx="1" type="body"/>
          </p:nvPr>
        </p:nvSpPr>
        <p:spPr>
          <a:xfrm>
            <a:off x="311700" y="1531625"/>
            <a:ext cx="5584500" cy="3612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a:latin typeface="Oswald"/>
                <a:ea typeface="Oswald"/>
                <a:cs typeface="Oswald"/>
                <a:sym typeface="Oswald"/>
              </a:rPr>
              <a:t>Activity 1: </a:t>
            </a:r>
            <a:endParaRPr b="1">
              <a:latin typeface="Oswald"/>
              <a:ea typeface="Oswald"/>
              <a:cs typeface="Oswald"/>
              <a:sym typeface="Oswald"/>
            </a:endParaRPr>
          </a:p>
          <a:p>
            <a:pPr indent="-355600" lvl="0" marL="457200" rtl="0" algn="l">
              <a:spcBef>
                <a:spcPts val="1200"/>
              </a:spcBef>
              <a:spcAft>
                <a:spcPts val="0"/>
              </a:spcAft>
              <a:buSzPts val="2000"/>
              <a:buFont typeface="Oswald ExtraLight"/>
              <a:buChar char="-"/>
            </a:pPr>
            <a:r>
              <a:rPr lang="en" sz="2000">
                <a:latin typeface="Oswald ExtraLight"/>
                <a:ea typeface="Oswald ExtraLight"/>
                <a:cs typeface="Oswald ExtraLight"/>
                <a:sym typeface="Oswald ExtraLight"/>
              </a:rPr>
              <a:t>By using a water level sensor, we can explore how flooding impacts a city. Students can build a small city model inside a large tray or bin, adding toy buildings, roads, and parks. Once the city is ready, “rain” is poured over it using watering cans or spray bottles. The water level sensor is placed in low-lying areas, such as near “houses” or “streets.” As the water rises, students can record measurements and identify which parts of the city are most at risk. This helps students understand how geography and city planning can influence flood risk and safety.</a:t>
            </a:r>
            <a:endParaRPr sz="2000">
              <a:latin typeface="Oswald ExtraLight"/>
              <a:ea typeface="Oswald ExtraLight"/>
              <a:cs typeface="Oswald ExtraLight"/>
              <a:sym typeface="Oswald ExtraLight"/>
            </a:endParaRPr>
          </a:p>
        </p:txBody>
      </p:sp>
      <p:pic>
        <p:nvPicPr>
          <p:cNvPr descr="NSW Premier Visits Flood Affected Moree (Provided by Getty Images)" id="126" name="Google Shape;126;p23"/>
          <p:cNvPicPr preferRelativeResize="0"/>
          <p:nvPr/>
        </p:nvPicPr>
        <p:blipFill>
          <a:blip r:embed="rId3">
            <a:alphaModFix/>
          </a:blip>
          <a:stretch>
            <a:fillRect/>
          </a:stretch>
        </p:blipFill>
        <p:spPr>
          <a:xfrm>
            <a:off x="5896200" y="2318575"/>
            <a:ext cx="3057925" cy="20380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ph type="title"/>
          </p:nvPr>
        </p:nvSpPr>
        <p:spPr>
          <a:xfrm>
            <a:off x="311700" y="445025"/>
            <a:ext cx="3875700" cy="2008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3211">
                <a:latin typeface="Oswald Light"/>
                <a:ea typeface="Oswald Light"/>
                <a:cs typeface="Oswald Light"/>
                <a:sym typeface="Oswald Light"/>
              </a:rPr>
              <a:t>How Can We Measure Floods Caused by Climate Change in the Classroom?</a:t>
            </a:r>
            <a:endParaRPr sz="3211">
              <a:latin typeface="Oswald Light"/>
              <a:ea typeface="Oswald Light"/>
              <a:cs typeface="Oswald Light"/>
              <a:sym typeface="Oswald Light"/>
            </a:endParaRPr>
          </a:p>
        </p:txBody>
      </p:sp>
      <p:sp>
        <p:nvSpPr>
          <p:cNvPr id="132" name="Google Shape;132;p24"/>
          <p:cNvSpPr txBox="1"/>
          <p:nvPr>
            <p:ph idx="1" type="body"/>
          </p:nvPr>
        </p:nvSpPr>
        <p:spPr>
          <a:xfrm>
            <a:off x="4572000" y="534650"/>
            <a:ext cx="4202400" cy="42315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2000">
                <a:latin typeface="Oswald"/>
                <a:ea typeface="Oswald"/>
                <a:cs typeface="Oswald"/>
                <a:sym typeface="Oswald"/>
              </a:rPr>
              <a:t>Activity 2:</a:t>
            </a:r>
            <a:endParaRPr b="1" sz="2000">
              <a:latin typeface="Oswald"/>
              <a:ea typeface="Oswald"/>
              <a:cs typeface="Oswald"/>
              <a:sym typeface="Oswald"/>
            </a:endParaRPr>
          </a:p>
          <a:p>
            <a:pPr indent="-355600" lvl="0" marL="457200" rtl="0" algn="l">
              <a:spcBef>
                <a:spcPts val="1200"/>
              </a:spcBef>
              <a:spcAft>
                <a:spcPts val="0"/>
              </a:spcAft>
              <a:buSzPts val="2000"/>
              <a:buFont typeface="Oswald ExtraLight"/>
              <a:buChar char="-"/>
            </a:pPr>
            <a:r>
              <a:rPr lang="en" sz="2000">
                <a:latin typeface="Oswald ExtraLight"/>
                <a:ea typeface="Oswald ExtraLight"/>
                <a:cs typeface="Oswald ExtraLight"/>
                <a:sym typeface="Oswald ExtraLight"/>
              </a:rPr>
              <a:t>By using a water level sensor, we can see how storms change water levels over time. Create several short “storm” events by pouring in small bursts of water and recording the water level after each one. Students can then graph their results, noticing patterns such as sudden spikes during intense rain or slow increases over multiple smaller storms. This activity introduces them to the idea of tracking trends over time, which is a key part of climate science and flood forecasting.</a:t>
            </a:r>
            <a:endParaRPr sz="2000">
              <a:latin typeface="Oswald ExtraLight"/>
              <a:ea typeface="Oswald ExtraLight"/>
              <a:cs typeface="Oswald ExtraLight"/>
              <a:sym typeface="Oswald ExtraLight"/>
            </a:endParaRPr>
          </a:p>
        </p:txBody>
      </p:sp>
      <p:pic>
        <p:nvPicPr>
          <p:cNvPr descr="Financial graph, Business strategy, Business concept, Price increase, Price decrease (Provided by Getty Images)" id="133" name="Google Shape;133;p24"/>
          <p:cNvPicPr preferRelativeResize="0"/>
          <p:nvPr/>
        </p:nvPicPr>
        <p:blipFill>
          <a:blip r:embed="rId3">
            <a:alphaModFix/>
          </a:blip>
          <a:stretch>
            <a:fillRect/>
          </a:stretch>
        </p:blipFill>
        <p:spPr>
          <a:xfrm>
            <a:off x="298738" y="2571750"/>
            <a:ext cx="3901629" cy="23851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Oswald Light"/>
                <a:ea typeface="Oswald Light"/>
                <a:cs typeface="Oswald Light"/>
                <a:sym typeface="Oswald Light"/>
              </a:rPr>
              <a:t>How the Sensor Helps</a:t>
            </a:r>
            <a:endParaRPr sz="3220">
              <a:latin typeface="Oswald Light"/>
              <a:ea typeface="Oswald Light"/>
              <a:cs typeface="Oswald Light"/>
              <a:sym typeface="Oswald Light"/>
            </a:endParaRPr>
          </a:p>
        </p:txBody>
      </p:sp>
      <p:sp>
        <p:nvSpPr>
          <p:cNvPr id="139" name="Google Shape;139;p25"/>
          <p:cNvSpPr txBox="1"/>
          <p:nvPr>
            <p:ph idx="1" type="body"/>
          </p:nvPr>
        </p:nvSpPr>
        <p:spPr>
          <a:xfrm>
            <a:off x="311700" y="1152475"/>
            <a:ext cx="4954800" cy="3416400"/>
          </a:xfrm>
          <a:prstGeom prst="rect">
            <a:avLst/>
          </a:prstGeom>
        </p:spPr>
        <p:txBody>
          <a:bodyPr anchorCtr="0" anchor="t" bIns="91425" lIns="91425" spcFirstLastPara="1" rIns="91425" wrap="square" tIns="91425">
            <a:normAutofit/>
          </a:bodyPr>
          <a:lstStyle/>
          <a:p>
            <a:pPr indent="0" lvl="0" marL="0" rtl="0" algn="l">
              <a:lnSpc>
                <a:spcPct val="200000"/>
              </a:lnSpc>
              <a:spcBef>
                <a:spcPts val="0"/>
              </a:spcBef>
              <a:spcAft>
                <a:spcPts val="0"/>
              </a:spcAft>
              <a:buNone/>
            </a:pPr>
            <a:r>
              <a:rPr lang="en" sz="2000">
                <a:latin typeface="Oswald ExtraLight"/>
                <a:ea typeface="Oswald ExtraLight"/>
                <a:cs typeface="Oswald ExtraLight"/>
                <a:sym typeface="Oswald ExtraLight"/>
              </a:rPr>
              <a:t>The IO Rodeo water level sensor helps students:</a:t>
            </a:r>
            <a:endParaRPr sz="2000">
              <a:latin typeface="Oswald ExtraLight"/>
              <a:ea typeface="Oswald ExtraLight"/>
              <a:cs typeface="Oswald ExtraLight"/>
              <a:sym typeface="Oswald ExtraLight"/>
            </a:endParaRPr>
          </a:p>
          <a:p>
            <a:pPr indent="-355600" lvl="0" marL="457200" rtl="0" algn="l">
              <a:lnSpc>
                <a:spcPct val="200000"/>
              </a:lnSpc>
              <a:spcBef>
                <a:spcPts val="1200"/>
              </a:spcBef>
              <a:spcAft>
                <a:spcPts val="0"/>
              </a:spcAft>
              <a:buSzPts val="2000"/>
              <a:buFont typeface="Oswald ExtraLight"/>
              <a:buChar char="-"/>
            </a:pPr>
            <a:r>
              <a:rPr lang="en" sz="2000">
                <a:latin typeface="Oswald ExtraLight"/>
                <a:ea typeface="Oswald ExtraLight"/>
                <a:cs typeface="Oswald ExtraLight"/>
                <a:sym typeface="Oswald ExtraLight"/>
              </a:rPr>
              <a:t>Measure how quickly water rises during a flood</a:t>
            </a:r>
            <a:endParaRPr sz="2000">
              <a:latin typeface="Oswald ExtraLight"/>
              <a:ea typeface="Oswald ExtraLight"/>
              <a:cs typeface="Oswald ExtraLight"/>
              <a:sym typeface="Oswald ExtraLight"/>
            </a:endParaRPr>
          </a:p>
          <a:p>
            <a:pPr indent="-355600" lvl="0" marL="457200" rtl="0" algn="l">
              <a:lnSpc>
                <a:spcPct val="200000"/>
              </a:lnSpc>
              <a:spcBef>
                <a:spcPts val="0"/>
              </a:spcBef>
              <a:spcAft>
                <a:spcPts val="0"/>
              </a:spcAft>
              <a:buSzPts val="2000"/>
              <a:buFont typeface="Oswald ExtraLight"/>
              <a:buChar char="-"/>
            </a:pPr>
            <a:r>
              <a:rPr lang="en" sz="2000">
                <a:latin typeface="Oswald ExtraLight"/>
                <a:ea typeface="Oswald ExtraLight"/>
                <a:cs typeface="Oswald ExtraLight"/>
                <a:sym typeface="Oswald ExtraLight"/>
              </a:rPr>
              <a:t>See how heavy rain affects rivers, lakes, or puddles</a:t>
            </a:r>
            <a:endParaRPr sz="2000">
              <a:latin typeface="Oswald ExtraLight"/>
              <a:ea typeface="Oswald ExtraLight"/>
              <a:cs typeface="Oswald ExtraLight"/>
              <a:sym typeface="Oswald ExtraLight"/>
            </a:endParaRPr>
          </a:p>
          <a:p>
            <a:pPr indent="-355600" lvl="0" marL="457200" rtl="0" algn="l">
              <a:lnSpc>
                <a:spcPct val="200000"/>
              </a:lnSpc>
              <a:spcBef>
                <a:spcPts val="0"/>
              </a:spcBef>
              <a:spcAft>
                <a:spcPts val="0"/>
              </a:spcAft>
              <a:buSzPts val="2000"/>
              <a:buFont typeface="Oswald ExtraLight"/>
              <a:buChar char="-"/>
            </a:pPr>
            <a:r>
              <a:rPr lang="en" sz="2000">
                <a:latin typeface="Oswald ExtraLight"/>
                <a:ea typeface="Oswald ExtraLight"/>
                <a:cs typeface="Oswald ExtraLight"/>
                <a:sym typeface="Oswald ExtraLight"/>
              </a:rPr>
              <a:t>Collect </a:t>
            </a:r>
            <a:r>
              <a:rPr lang="en" sz="2000">
                <a:latin typeface="Oswald ExtraLight"/>
                <a:ea typeface="Oswald ExtraLight"/>
                <a:cs typeface="Oswald ExtraLight"/>
                <a:sym typeface="Oswald ExtraLight"/>
              </a:rPr>
              <a:t>data</a:t>
            </a:r>
            <a:r>
              <a:rPr lang="en" sz="2000">
                <a:latin typeface="Oswald ExtraLight"/>
                <a:ea typeface="Oswald ExtraLight"/>
                <a:cs typeface="Oswald ExtraLight"/>
                <a:sym typeface="Oswald ExtraLight"/>
              </a:rPr>
              <a:t> to understand how floods happen</a:t>
            </a:r>
            <a:endParaRPr sz="2000">
              <a:latin typeface="Oswald ExtraLight"/>
              <a:ea typeface="Oswald ExtraLight"/>
              <a:cs typeface="Oswald ExtraLight"/>
              <a:sym typeface="Oswald ExtraLight"/>
            </a:endParaRPr>
          </a:p>
          <a:p>
            <a:pPr indent="-355600" lvl="0" marL="457200" rtl="0" algn="l">
              <a:lnSpc>
                <a:spcPct val="200000"/>
              </a:lnSpc>
              <a:spcBef>
                <a:spcPts val="0"/>
              </a:spcBef>
              <a:spcAft>
                <a:spcPts val="0"/>
              </a:spcAft>
              <a:buSzPts val="2000"/>
              <a:buFont typeface="Oswald ExtraLight"/>
              <a:buChar char="-"/>
            </a:pPr>
            <a:r>
              <a:rPr lang="en" sz="2000">
                <a:latin typeface="Oswald ExtraLight"/>
                <a:ea typeface="Oswald ExtraLight"/>
                <a:cs typeface="Oswald ExtraLight"/>
                <a:sym typeface="Oswald ExtraLight"/>
              </a:rPr>
              <a:t>Explore how climate change might cause flooding</a:t>
            </a:r>
            <a:endParaRPr sz="2000">
              <a:latin typeface="Oswald ExtraLight"/>
              <a:ea typeface="Oswald ExtraLight"/>
              <a:cs typeface="Oswald ExtraLight"/>
              <a:sym typeface="Oswald ExtraLight"/>
            </a:endParaRPr>
          </a:p>
        </p:txBody>
      </p:sp>
      <p:pic>
        <p:nvPicPr>
          <p:cNvPr id="140" name="Google Shape;140;p25"/>
          <p:cNvPicPr preferRelativeResize="0"/>
          <p:nvPr/>
        </p:nvPicPr>
        <p:blipFill>
          <a:blip r:embed="rId3">
            <a:alphaModFix/>
          </a:blip>
          <a:stretch>
            <a:fillRect/>
          </a:stretch>
        </p:blipFill>
        <p:spPr>
          <a:xfrm>
            <a:off x="5658900" y="1170125"/>
            <a:ext cx="3332700" cy="328826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6"/>
          <p:cNvSpPr txBox="1"/>
          <p:nvPr>
            <p:ph type="title"/>
          </p:nvPr>
        </p:nvSpPr>
        <p:spPr>
          <a:xfrm>
            <a:off x="597000" y="936400"/>
            <a:ext cx="7950000" cy="1937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5200">
                <a:solidFill>
                  <a:srgbClr val="274E13"/>
                </a:solidFill>
                <a:latin typeface="Oswald Light"/>
                <a:ea typeface="Oswald Light"/>
                <a:cs typeface="Oswald Light"/>
                <a:sym typeface="Oswald Light"/>
              </a:rPr>
              <a:t>Understanding Aquatic Habitats with a Water Level Sensor</a:t>
            </a:r>
            <a:endParaRPr sz="5200">
              <a:solidFill>
                <a:srgbClr val="274E13"/>
              </a:solidFill>
              <a:latin typeface="Oswald Light"/>
              <a:ea typeface="Oswald Light"/>
              <a:cs typeface="Oswald Light"/>
              <a:sym typeface="Oswald Light"/>
            </a:endParaRPr>
          </a:p>
        </p:txBody>
      </p:sp>
      <p:sp>
        <p:nvSpPr>
          <p:cNvPr id="146" name="Google Shape;146;p26"/>
          <p:cNvSpPr txBox="1"/>
          <p:nvPr/>
        </p:nvSpPr>
        <p:spPr>
          <a:xfrm>
            <a:off x="2208300" y="2930650"/>
            <a:ext cx="47274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rgbClr val="6AA84F"/>
                </a:solidFill>
                <a:latin typeface="Oswald Light"/>
                <a:ea typeface="Oswald Light"/>
                <a:cs typeface="Oswald Light"/>
                <a:sym typeface="Oswald Light"/>
              </a:rPr>
              <a:t>Middle School Level</a:t>
            </a:r>
            <a:endParaRPr sz="3500">
              <a:solidFill>
                <a:srgbClr val="6AA84F"/>
              </a:solidFill>
              <a:latin typeface="Oswald Light"/>
              <a:ea typeface="Oswald Light"/>
              <a:cs typeface="Oswald Light"/>
              <a:sym typeface="Oswald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latin typeface="Oswald Light"/>
                <a:ea typeface="Oswald Light"/>
                <a:cs typeface="Oswald Light"/>
                <a:sym typeface="Oswald Light"/>
              </a:rPr>
              <a:t>What are Aquatic Habitats?</a:t>
            </a:r>
            <a:endParaRPr sz="3200">
              <a:latin typeface="Oswald Light"/>
              <a:ea typeface="Oswald Light"/>
              <a:cs typeface="Oswald Light"/>
              <a:sym typeface="Oswald Light"/>
            </a:endParaRPr>
          </a:p>
        </p:txBody>
      </p:sp>
      <p:sp>
        <p:nvSpPr>
          <p:cNvPr id="152" name="Google Shape;152;p27"/>
          <p:cNvSpPr txBox="1"/>
          <p:nvPr>
            <p:ph idx="1" type="body"/>
          </p:nvPr>
        </p:nvSpPr>
        <p:spPr>
          <a:xfrm>
            <a:off x="311700" y="1152475"/>
            <a:ext cx="5302800" cy="3918000"/>
          </a:xfrm>
          <a:prstGeom prst="rect">
            <a:avLst/>
          </a:prstGeom>
        </p:spPr>
        <p:txBody>
          <a:bodyPr anchorCtr="0" anchor="t" bIns="91425" lIns="91425" spcFirstLastPara="1" rIns="91425" wrap="square" tIns="91425">
            <a:normAutofit fontScale="85000"/>
          </a:bodyPr>
          <a:lstStyle/>
          <a:p>
            <a:pPr indent="-344646" lvl="0" marL="457200" rtl="0" algn="l">
              <a:spcBef>
                <a:spcPts val="0"/>
              </a:spcBef>
              <a:spcAft>
                <a:spcPts val="0"/>
              </a:spcAft>
              <a:buSzPct val="100000"/>
              <a:buFont typeface="Oswald ExtraLight"/>
              <a:buChar char="●"/>
            </a:pPr>
            <a:r>
              <a:rPr lang="en" sz="2150">
                <a:latin typeface="Oswald ExtraLight"/>
                <a:ea typeface="Oswald ExtraLight"/>
                <a:cs typeface="Oswald ExtraLight"/>
                <a:sym typeface="Oswald ExtraLight"/>
              </a:rPr>
              <a:t>Aquatic habitats are places where plants and animals live in water, like ponds, rivers, lakes, wetlands, and marshes. </a:t>
            </a:r>
            <a:endParaRPr sz="2150">
              <a:latin typeface="Oswald ExtraLight"/>
              <a:ea typeface="Oswald ExtraLight"/>
              <a:cs typeface="Oswald ExtraLight"/>
              <a:sym typeface="Oswald ExtraLight"/>
            </a:endParaRPr>
          </a:p>
          <a:p>
            <a:pPr indent="0" lvl="0" marL="457200" rtl="0" algn="l">
              <a:spcBef>
                <a:spcPts val="1200"/>
              </a:spcBef>
              <a:spcAft>
                <a:spcPts val="0"/>
              </a:spcAft>
              <a:buNone/>
            </a:pPr>
            <a:r>
              <a:t/>
            </a:r>
            <a:endParaRPr sz="450">
              <a:latin typeface="Oswald ExtraLight"/>
              <a:ea typeface="Oswald ExtraLight"/>
              <a:cs typeface="Oswald ExtraLight"/>
              <a:sym typeface="Oswald ExtraLight"/>
            </a:endParaRPr>
          </a:p>
          <a:p>
            <a:pPr indent="-344646" lvl="0" marL="457200" rtl="0" algn="l">
              <a:spcBef>
                <a:spcPts val="1200"/>
              </a:spcBef>
              <a:spcAft>
                <a:spcPts val="0"/>
              </a:spcAft>
              <a:buSzPct val="100000"/>
              <a:buFont typeface="Oswald ExtraLight"/>
              <a:buChar char="●"/>
            </a:pPr>
            <a:r>
              <a:rPr lang="en" sz="2150">
                <a:latin typeface="Oswald ExtraLight"/>
                <a:ea typeface="Oswald ExtraLight"/>
                <a:cs typeface="Oswald ExtraLight"/>
                <a:sym typeface="Oswald ExtraLight"/>
              </a:rPr>
              <a:t>There are many different types of aquatic habitats, and they all </a:t>
            </a:r>
            <a:r>
              <a:rPr lang="en" sz="2150">
                <a:latin typeface="Oswald ExtraLight"/>
                <a:ea typeface="Oswald ExtraLight"/>
                <a:cs typeface="Oswald ExtraLight"/>
                <a:sym typeface="Oswald ExtraLight"/>
              </a:rPr>
              <a:t>support</a:t>
            </a:r>
            <a:r>
              <a:rPr lang="en" sz="2150">
                <a:latin typeface="Oswald ExtraLight"/>
                <a:ea typeface="Oswald ExtraLight"/>
                <a:cs typeface="Oswald ExtraLight"/>
                <a:sym typeface="Oswald ExtraLight"/>
              </a:rPr>
              <a:t> different kinds of life, this results in a </a:t>
            </a:r>
            <a:r>
              <a:rPr lang="en" sz="2150">
                <a:latin typeface="Oswald ExtraLight"/>
                <a:ea typeface="Oswald ExtraLight"/>
                <a:cs typeface="Oswald ExtraLight"/>
                <a:sym typeface="Oswald ExtraLight"/>
              </a:rPr>
              <a:t>variety</a:t>
            </a:r>
            <a:r>
              <a:rPr lang="en" sz="2150">
                <a:latin typeface="Oswald ExtraLight"/>
                <a:ea typeface="Oswald ExtraLight"/>
                <a:cs typeface="Oswald ExtraLight"/>
                <a:sym typeface="Oswald ExtraLight"/>
              </a:rPr>
              <a:t> of habitats. The more variety of habitat the more variety of life, such as plants, animals, and other organisms. </a:t>
            </a:r>
            <a:endParaRPr sz="2150">
              <a:latin typeface="Oswald ExtraLight"/>
              <a:ea typeface="Oswald ExtraLight"/>
              <a:cs typeface="Oswald ExtraLight"/>
              <a:sym typeface="Oswald ExtraLight"/>
            </a:endParaRPr>
          </a:p>
          <a:p>
            <a:pPr indent="0" lvl="0" marL="457200" rtl="0" algn="l">
              <a:spcBef>
                <a:spcPts val="1200"/>
              </a:spcBef>
              <a:spcAft>
                <a:spcPts val="0"/>
              </a:spcAft>
              <a:buNone/>
            </a:pPr>
            <a:r>
              <a:t/>
            </a:r>
            <a:endParaRPr sz="2150">
              <a:latin typeface="Oswald ExtraLight"/>
              <a:ea typeface="Oswald ExtraLight"/>
              <a:cs typeface="Oswald ExtraLight"/>
              <a:sym typeface="Oswald ExtraLight"/>
            </a:endParaRPr>
          </a:p>
          <a:p>
            <a:pPr indent="-344646" lvl="0" marL="457200" rtl="0" algn="l">
              <a:spcBef>
                <a:spcPts val="1200"/>
              </a:spcBef>
              <a:spcAft>
                <a:spcPts val="0"/>
              </a:spcAft>
              <a:buSzPct val="100000"/>
              <a:buFont typeface="Oswald ExtraLight"/>
              <a:buChar char="●"/>
            </a:pPr>
            <a:r>
              <a:rPr lang="en" sz="2150">
                <a:latin typeface="Oswald ExtraLight"/>
                <a:ea typeface="Oswald ExtraLight"/>
                <a:cs typeface="Oswald ExtraLight"/>
                <a:sym typeface="Oswald ExtraLight"/>
              </a:rPr>
              <a:t>This is a good example of biodiversity. Biodiversity means having many different kinds of </a:t>
            </a:r>
            <a:r>
              <a:rPr lang="en" sz="2150">
                <a:latin typeface="Oswald ExtraLight"/>
                <a:ea typeface="Oswald ExtraLight"/>
                <a:cs typeface="Oswald ExtraLight"/>
                <a:sym typeface="Oswald ExtraLight"/>
              </a:rPr>
              <a:t>living</a:t>
            </a:r>
            <a:r>
              <a:rPr lang="en" sz="2150">
                <a:latin typeface="Oswald ExtraLight"/>
                <a:ea typeface="Oswald ExtraLight"/>
                <a:cs typeface="Oswald ExtraLight"/>
                <a:sym typeface="Oswald ExtraLight"/>
              </a:rPr>
              <a:t> things in one place. </a:t>
            </a:r>
            <a:endParaRPr sz="2150">
              <a:solidFill>
                <a:schemeClr val="dk1"/>
              </a:solidFill>
            </a:endParaRPr>
          </a:p>
        </p:txBody>
      </p:sp>
      <p:pic>
        <p:nvPicPr>
          <p:cNvPr descr="Scenic view of nature (Provided by Getty Images)" id="153" name="Google Shape;153;p27"/>
          <p:cNvPicPr preferRelativeResize="0"/>
          <p:nvPr/>
        </p:nvPicPr>
        <p:blipFill>
          <a:blip r:embed="rId3">
            <a:alphaModFix/>
          </a:blip>
          <a:stretch>
            <a:fillRect/>
          </a:stretch>
        </p:blipFill>
        <p:spPr>
          <a:xfrm>
            <a:off x="5946775" y="2286875"/>
            <a:ext cx="2692552" cy="2692552"/>
          </a:xfrm>
          <a:prstGeom prst="rect">
            <a:avLst/>
          </a:prstGeom>
          <a:noFill/>
          <a:ln>
            <a:noFill/>
          </a:ln>
        </p:spPr>
      </p:pic>
      <p:pic>
        <p:nvPicPr>
          <p:cNvPr descr="Underwater sea life in Islas Secas, an archipelago off the Pacific coast of Panama (Provided by Getty Images)" id="154" name="Google Shape;154;p27"/>
          <p:cNvPicPr preferRelativeResize="0"/>
          <p:nvPr/>
        </p:nvPicPr>
        <p:blipFill>
          <a:blip r:embed="rId4">
            <a:alphaModFix/>
          </a:blip>
          <a:stretch>
            <a:fillRect/>
          </a:stretch>
        </p:blipFill>
        <p:spPr>
          <a:xfrm>
            <a:off x="5506294" y="323267"/>
            <a:ext cx="1928801" cy="257173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8"/>
          <p:cNvSpPr txBox="1"/>
          <p:nvPr>
            <p:ph type="title"/>
          </p:nvPr>
        </p:nvSpPr>
        <p:spPr>
          <a:xfrm>
            <a:off x="3228500" y="432600"/>
            <a:ext cx="5404200" cy="53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Oswald Light"/>
                <a:ea typeface="Oswald Light"/>
                <a:cs typeface="Oswald Light"/>
                <a:sym typeface="Oswald Light"/>
              </a:rPr>
              <a:t>Why are aquatic Habitats important?</a:t>
            </a:r>
            <a:endParaRPr sz="3220">
              <a:latin typeface="Oswald Light"/>
              <a:ea typeface="Oswald Light"/>
              <a:cs typeface="Oswald Light"/>
              <a:sym typeface="Oswald Light"/>
            </a:endParaRPr>
          </a:p>
        </p:txBody>
      </p:sp>
      <p:sp>
        <p:nvSpPr>
          <p:cNvPr id="160" name="Google Shape;160;p28"/>
          <p:cNvSpPr txBox="1"/>
          <p:nvPr>
            <p:ph idx="1" type="body"/>
          </p:nvPr>
        </p:nvSpPr>
        <p:spPr>
          <a:xfrm>
            <a:off x="3167925" y="1257300"/>
            <a:ext cx="5680800" cy="345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2000">
                <a:latin typeface="Oswald ExtraLight"/>
                <a:ea typeface="Oswald ExtraLight"/>
                <a:cs typeface="Oswald ExtraLight"/>
                <a:sym typeface="Oswald ExtraLight"/>
              </a:rPr>
              <a:t>Aquatic habitats, like oceans, lakes, and rivers, are super important because they are homes for many plants and animals, and they help keep our planet healthy. </a:t>
            </a:r>
            <a:endParaRPr sz="2000">
              <a:latin typeface="Oswald ExtraLight"/>
              <a:ea typeface="Oswald ExtraLight"/>
              <a:cs typeface="Oswald ExtraLight"/>
              <a:sym typeface="Oswald ExtraLight"/>
            </a:endParaRPr>
          </a:p>
          <a:p>
            <a:pPr indent="0" lvl="0" marL="0" rtl="0" algn="l">
              <a:spcBef>
                <a:spcPts val="1200"/>
              </a:spcBef>
              <a:spcAft>
                <a:spcPts val="0"/>
              </a:spcAft>
              <a:buClr>
                <a:schemeClr val="dk1"/>
              </a:buClr>
              <a:buSzPts val="1100"/>
              <a:buFont typeface="Arial"/>
              <a:buNone/>
            </a:pPr>
            <a:r>
              <a:t/>
            </a:r>
            <a:endParaRPr sz="2000">
              <a:latin typeface="Oswald ExtraLight"/>
              <a:ea typeface="Oswald ExtraLight"/>
              <a:cs typeface="Oswald ExtraLight"/>
              <a:sym typeface="Oswald ExtraLight"/>
            </a:endParaRPr>
          </a:p>
          <a:p>
            <a:pPr indent="0" lvl="0" marL="0" rtl="0" algn="l">
              <a:spcBef>
                <a:spcPts val="1200"/>
              </a:spcBef>
              <a:spcAft>
                <a:spcPts val="1200"/>
              </a:spcAft>
              <a:buClr>
                <a:schemeClr val="dk1"/>
              </a:buClr>
              <a:buSzPts val="1100"/>
              <a:buFont typeface="Arial"/>
              <a:buNone/>
            </a:pPr>
            <a:r>
              <a:rPr lang="en" sz="2000">
                <a:latin typeface="Oswald ExtraLight"/>
                <a:ea typeface="Oswald ExtraLight"/>
                <a:cs typeface="Oswald ExtraLight"/>
                <a:sym typeface="Oswald ExtraLight"/>
              </a:rPr>
              <a:t>These habitats provide food, shelter, and places for creatures to grow and reproduce. They also play a big role in cleaning the air and water, and even help protect us from storms.  For example, w</a:t>
            </a:r>
            <a:r>
              <a:rPr lang="en" sz="2000">
                <a:latin typeface="Oswald ExtraLight"/>
                <a:ea typeface="Oswald ExtraLight"/>
                <a:cs typeface="Oswald ExtraLight"/>
                <a:sym typeface="Oswald ExtraLight"/>
              </a:rPr>
              <a:t>etlands help soak up extra water during storms to prevent floods. </a:t>
            </a:r>
            <a:endParaRPr/>
          </a:p>
        </p:txBody>
      </p:sp>
      <p:pic>
        <p:nvPicPr>
          <p:cNvPr descr="Cabo de Palos bajo el agua (Provided by Getty Images)" id="161" name="Google Shape;161;p28"/>
          <p:cNvPicPr preferRelativeResize="0"/>
          <p:nvPr/>
        </p:nvPicPr>
        <p:blipFill>
          <a:blip r:embed="rId3">
            <a:alphaModFix/>
          </a:blip>
          <a:stretch>
            <a:fillRect/>
          </a:stretch>
        </p:blipFill>
        <p:spPr>
          <a:xfrm>
            <a:off x="212350" y="796975"/>
            <a:ext cx="2863127" cy="336993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9"/>
          <p:cNvSpPr txBox="1"/>
          <p:nvPr>
            <p:ph type="title"/>
          </p:nvPr>
        </p:nvSpPr>
        <p:spPr>
          <a:xfrm>
            <a:off x="311700" y="445025"/>
            <a:ext cx="8520600" cy="1086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3211">
                <a:latin typeface="Oswald Light"/>
                <a:ea typeface="Oswald Light"/>
                <a:cs typeface="Oswald Light"/>
                <a:sym typeface="Oswald Light"/>
              </a:rPr>
              <a:t>How Can We Measure the Changes of Aquatic Habitats in the Classroom?</a:t>
            </a:r>
            <a:endParaRPr sz="3211">
              <a:latin typeface="Oswald Light"/>
              <a:ea typeface="Oswald Light"/>
              <a:cs typeface="Oswald Light"/>
              <a:sym typeface="Oswald Light"/>
            </a:endParaRPr>
          </a:p>
        </p:txBody>
      </p:sp>
      <p:sp>
        <p:nvSpPr>
          <p:cNvPr id="167" name="Google Shape;167;p29"/>
          <p:cNvSpPr txBox="1"/>
          <p:nvPr>
            <p:ph idx="1" type="body"/>
          </p:nvPr>
        </p:nvSpPr>
        <p:spPr>
          <a:xfrm>
            <a:off x="311700" y="1655075"/>
            <a:ext cx="5289000" cy="322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latin typeface="Oswald"/>
                <a:ea typeface="Oswald"/>
                <a:cs typeface="Oswald"/>
                <a:sym typeface="Oswald"/>
              </a:rPr>
              <a:t>Activity: </a:t>
            </a:r>
            <a:endParaRPr b="1">
              <a:latin typeface="Oswald"/>
              <a:ea typeface="Oswald"/>
              <a:cs typeface="Oswald"/>
              <a:sym typeface="Oswald"/>
            </a:endParaRPr>
          </a:p>
          <a:p>
            <a:pPr indent="-355600" lvl="0" marL="457200" rtl="0" algn="l">
              <a:spcBef>
                <a:spcPts val="1200"/>
              </a:spcBef>
              <a:spcAft>
                <a:spcPts val="0"/>
              </a:spcAft>
              <a:buSzPts val="2000"/>
              <a:buFont typeface="Oswald ExtraLight"/>
              <a:buChar char="-"/>
            </a:pPr>
            <a:r>
              <a:rPr lang="en" sz="2000">
                <a:latin typeface="Oswald ExtraLight"/>
                <a:ea typeface="Oswald ExtraLight"/>
                <a:cs typeface="Oswald ExtraLight"/>
                <a:sym typeface="Oswald ExtraLight"/>
              </a:rPr>
              <a:t>By using a water level sensor, we can see how wetlands store and release water. Students create a mini wetland in a plastic tub, complete with soil, plants, and a small “pond” area. They measure water levels before and after simulated rain to see how wetlands act like sponges, slowly releasing stored water.</a:t>
            </a:r>
            <a:endParaRPr sz="2000">
              <a:latin typeface="Oswald ExtraLight"/>
              <a:ea typeface="Oswald ExtraLight"/>
              <a:cs typeface="Oswald ExtraLight"/>
              <a:sym typeface="Oswald ExtraLight"/>
            </a:endParaRPr>
          </a:p>
        </p:txBody>
      </p:sp>
      <p:pic>
        <p:nvPicPr>
          <p:cNvPr descr="Natural fertilizers, infusion of nettle and celandine. Natural fertilizer for vegetables, flowers. (Provided by Getty Images)" id="168" name="Google Shape;168;p29"/>
          <p:cNvPicPr preferRelativeResize="0"/>
          <p:nvPr/>
        </p:nvPicPr>
        <p:blipFill>
          <a:blip r:embed="rId3">
            <a:alphaModFix/>
          </a:blip>
          <a:stretch>
            <a:fillRect/>
          </a:stretch>
        </p:blipFill>
        <p:spPr>
          <a:xfrm>
            <a:off x="6043950" y="1404800"/>
            <a:ext cx="2483535" cy="33070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Oswald Light"/>
                <a:ea typeface="Oswald Light"/>
                <a:cs typeface="Oswald Light"/>
                <a:sym typeface="Oswald Light"/>
              </a:rPr>
              <a:t>How the Sensor Helps</a:t>
            </a:r>
            <a:endParaRPr sz="3220">
              <a:latin typeface="Oswald Light"/>
              <a:ea typeface="Oswald Light"/>
              <a:cs typeface="Oswald Light"/>
              <a:sym typeface="Oswald Light"/>
            </a:endParaRPr>
          </a:p>
        </p:txBody>
      </p:sp>
      <p:sp>
        <p:nvSpPr>
          <p:cNvPr id="174" name="Google Shape;174;p30"/>
          <p:cNvSpPr txBox="1"/>
          <p:nvPr>
            <p:ph idx="1" type="body"/>
          </p:nvPr>
        </p:nvSpPr>
        <p:spPr>
          <a:xfrm>
            <a:off x="311700" y="1152475"/>
            <a:ext cx="5314500" cy="3416400"/>
          </a:xfrm>
          <a:prstGeom prst="rect">
            <a:avLst/>
          </a:prstGeom>
        </p:spPr>
        <p:txBody>
          <a:bodyPr anchorCtr="0" anchor="t" bIns="91425" lIns="91425" spcFirstLastPara="1" rIns="91425" wrap="square" tIns="91425">
            <a:normAutofit/>
          </a:bodyPr>
          <a:lstStyle/>
          <a:p>
            <a:pPr indent="0" lvl="0" marL="0" rtl="0" algn="l">
              <a:lnSpc>
                <a:spcPct val="200000"/>
              </a:lnSpc>
              <a:spcBef>
                <a:spcPts val="0"/>
              </a:spcBef>
              <a:spcAft>
                <a:spcPts val="0"/>
              </a:spcAft>
              <a:buNone/>
            </a:pPr>
            <a:r>
              <a:rPr lang="en" sz="2000">
                <a:latin typeface="Oswald ExtraLight"/>
                <a:ea typeface="Oswald ExtraLight"/>
                <a:cs typeface="Oswald ExtraLight"/>
                <a:sym typeface="Oswald ExtraLight"/>
              </a:rPr>
              <a:t>The IO Rodeo water level sensor helps students:</a:t>
            </a:r>
            <a:endParaRPr sz="2000">
              <a:latin typeface="Oswald ExtraLight"/>
              <a:ea typeface="Oswald ExtraLight"/>
              <a:cs typeface="Oswald ExtraLight"/>
              <a:sym typeface="Oswald ExtraLight"/>
            </a:endParaRPr>
          </a:p>
          <a:p>
            <a:pPr indent="-355600" lvl="0" marL="457200" rtl="0" algn="l">
              <a:lnSpc>
                <a:spcPct val="200000"/>
              </a:lnSpc>
              <a:spcBef>
                <a:spcPts val="1200"/>
              </a:spcBef>
              <a:spcAft>
                <a:spcPts val="0"/>
              </a:spcAft>
              <a:buSzPts val="2000"/>
              <a:buFont typeface="Oswald ExtraLight"/>
              <a:buChar char="-"/>
            </a:pPr>
            <a:r>
              <a:rPr lang="en" sz="2000">
                <a:latin typeface="Oswald ExtraLight"/>
                <a:ea typeface="Oswald ExtraLight"/>
                <a:cs typeface="Oswald ExtraLight"/>
                <a:sym typeface="Oswald ExtraLight"/>
              </a:rPr>
              <a:t>See how water level rise or fall in wetland models</a:t>
            </a:r>
            <a:endParaRPr sz="2000">
              <a:latin typeface="Oswald ExtraLight"/>
              <a:ea typeface="Oswald ExtraLight"/>
              <a:cs typeface="Oswald ExtraLight"/>
              <a:sym typeface="Oswald ExtraLight"/>
            </a:endParaRPr>
          </a:p>
          <a:p>
            <a:pPr indent="-355600" lvl="0" marL="457200" rtl="0" algn="l">
              <a:lnSpc>
                <a:spcPct val="200000"/>
              </a:lnSpc>
              <a:spcBef>
                <a:spcPts val="0"/>
              </a:spcBef>
              <a:spcAft>
                <a:spcPts val="0"/>
              </a:spcAft>
              <a:buSzPts val="2000"/>
              <a:buFont typeface="Oswald ExtraLight"/>
              <a:buChar char="-"/>
            </a:pPr>
            <a:r>
              <a:rPr lang="en" sz="2000">
                <a:latin typeface="Oswald ExtraLight"/>
                <a:ea typeface="Oswald ExtraLight"/>
                <a:cs typeface="Oswald ExtraLight"/>
                <a:sym typeface="Oswald ExtraLight"/>
              </a:rPr>
              <a:t>Explore how water changes affect fish, frogs, and plants</a:t>
            </a:r>
            <a:endParaRPr sz="2000">
              <a:latin typeface="Oswald ExtraLight"/>
              <a:ea typeface="Oswald ExtraLight"/>
              <a:cs typeface="Oswald ExtraLight"/>
              <a:sym typeface="Oswald ExtraLight"/>
            </a:endParaRPr>
          </a:p>
          <a:p>
            <a:pPr indent="-355600" lvl="0" marL="457200" rtl="0" algn="l">
              <a:lnSpc>
                <a:spcPct val="200000"/>
              </a:lnSpc>
              <a:spcBef>
                <a:spcPts val="0"/>
              </a:spcBef>
              <a:spcAft>
                <a:spcPts val="0"/>
              </a:spcAft>
              <a:buSzPts val="2000"/>
              <a:buFont typeface="Oswald ExtraLight"/>
              <a:buChar char="-"/>
            </a:pPr>
            <a:r>
              <a:rPr lang="en" sz="2000">
                <a:latin typeface="Oswald ExtraLight"/>
                <a:ea typeface="Oswald ExtraLight"/>
                <a:cs typeface="Oswald ExtraLight"/>
                <a:sym typeface="Oswald ExtraLight"/>
              </a:rPr>
              <a:t>Measure</a:t>
            </a:r>
            <a:r>
              <a:rPr lang="en" sz="2000">
                <a:latin typeface="Oswald ExtraLight"/>
                <a:ea typeface="Oswald ExtraLight"/>
                <a:cs typeface="Oswald ExtraLight"/>
                <a:sym typeface="Oswald ExtraLight"/>
              </a:rPr>
              <a:t> how wetlands slow down floodwaters</a:t>
            </a:r>
            <a:endParaRPr sz="2000">
              <a:latin typeface="Oswald ExtraLight"/>
              <a:ea typeface="Oswald ExtraLight"/>
              <a:cs typeface="Oswald ExtraLight"/>
              <a:sym typeface="Oswald ExtraLight"/>
            </a:endParaRPr>
          </a:p>
          <a:p>
            <a:pPr indent="-355600" lvl="0" marL="457200" rtl="0" algn="l">
              <a:lnSpc>
                <a:spcPct val="200000"/>
              </a:lnSpc>
              <a:spcBef>
                <a:spcPts val="0"/>
              </a:spcBef>
              <a:spcAft>
                <a:spcPts val="0"/>
              </a:spcAft>
              <a:buSzPts val="2000"/>
              <a:buFont typeface="Oswald ExtraLight"/>
              <a:buChar char="-"/>
            </a:pPr>
            <a:r>
              <a:rPr lang="en" sz="2000">
                <a:latin typeface="Oswald ExtraLight"/>
                <a:ea typeface="Oswald ExtraLight"/>
                <a:cs typeface="Oswald ExtraLight"/>
                <a:sym typeface="Oswald ExtraLight"/>
              </a:rPr>
              <a:t>Understand how human actions change aquatic habitats</a:t>
            </a:r>
            <a:endParaRPr sz="2000">
              <a:latin typeface="Oswald ExtraLight"/>
              <a:ea typeface="Oswald ExtraLight"/>
              <a:cs typeface="Oswald ExtraLight"/>
              <a:sym typeface="Oswald ExtraLight"/>
            </a:endParaRPr>
          </a:p>
        </p:txBody>
      </p:sp>
      <p:pic>
        <p:nvPicPr>
          <p:cNvPr id="175" name="Google Shape;175;p30"/>
          <p:cNvPicPr preferRelativeResize="0"/>
          <p:nvPr/>
        </p:nvPicPr>
        <p:blipFill>
          <a:blip r:embed="rId3">
            <a:alphaModFix/>
          </a:blip>
          <a:stretch>
            <a:fillRect/>
          </a:stretch>
        </p:blipFill>
        <p:spPr>
          <a:xfrm>
            <a:off x="5658900" y="1170125"/>
            <a:ext cx="3332700" cy="328826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1"/>
          <p:cNvSpPr txBox="1"/>
          <p:nvPr>
            <p:ph type="title"/>
          </p:nvPr>
        </p:nvSpPr>
        <p:spPr>
          <a:xfrm>
            <a:off x="597000" y="936400"/>
            <a:ext cx="7950000" cy="1937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5200">
                <a:solidFill>
                  <a:srgbClr val="274E13"/>
                </a:solidFill>
                <a:latin typeface="Oswald Light"/>
                <a:ea typeface="Oswald Light"/>
                <a:cs typeface="Oswald Light"/>
                <a:sym typeface="Oswald Light"/>
              </a:rPr>
              <a:t>Data Collection with a Water Level Sensor</a:t>
            </a:r>
            <a:endParaRPr sz="5200">
              <a:solidFill>
                <a:srgbClr val="274E13"/>
              </a:solidFill>
              <a:latin typeface="Oswald Light"/>
              <a:ea typeface="Oswald Light"/>
              <a:cs typeface="Oswald Light"/>
              <a:sym typeface="Oswald Light"/>
            </a:endParaRPr>
          </a:p>
        </p:txBody>
      </p:sp>
      <p:sp>
        <p:nvSpPr>
          <p:cNvPr id="181" name="Google Shape;181;p31"/>
          <p:cNvSpPr txBox="1"/>
          <p:nvPr/>
        </p:nvSpPr>
        <p:spPr>
          <a:xfrm>
            <a:off x="2208300" y="2930650"/>
            <a:ext cx="47274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rgbClr val="6AA84F"/>
                </a:solidFill>
                <a:latin typeface="Oswald Light"/>
                <a:ea typeface="Oswald Light"/>
                <a:cs typeface="Oswald Light"/>
                <a:sym typeface="Oswald Light"/>
              </a:rPr>
              <a:t>Middle School Level</a:t>
            </a:r>
            <a:endParaRPr sz="3500">
              <a:solidFill>
                <a:srgbClr val="6AA84F"/>
              </a:solidFill>
              <a:latin typeface="Oswald Light"/>
              <a:ea typeface="Oswald Light"/>
              <a:cs typeface="Oswald Light"/>
              <a:sym typeface="Oswald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Oswald Light"/>
                <a:ea typeface="Oswald Light"/>
                <a:cs typeface="Oswald Light"/>
                <a:sym typeface="Oswald Light"/>
              </a:rPr>
              <a:t>What is Data Collection?</a:t>
            </a:r>
            <a:endParaRPr sz="3220">
              <a:latin typeface="Oswald Light"/>
              <a:ea typeface="Oswald Light"/>
              <a:cs typeface="Oswald Light"/>
              <a:sym typeface="Oswald Light"/>
            </a:endParaRPr>
          </a:p>
        </p:txBody>
      </p:sp>
      <p:sp>
        <p:nvSpPr>
          <p:cNvPr id="187" name="Google Shape;187;p32"/>
          <p:cNvSpPr txBox="1"/>
          <p:nvPr>
            <p:ph idx="1" type="body"/>
          </p:nvPr>
        </p:nvSpPr>
        <p:spPr>
          <a:xfrm>
            <a:off x="311700" y="1284725"/>
            <a:ext cx="6317700" cy="3621000"/>
          </a:xfrm>
          <a:prstGeom prst="rect">
            <a:avLst/>
          </a:prstGeom>
        </p:spPr>
        <p:txBody>
          <a:bodyPr anchorCtr="0" anchor="t" bIns="91425" lIns="91425" spcFirstLastPara="1" rIns="91425" wrap="square" tIns="91425">
            <a:normAutofit lnSpcReduction="20000"/>
          </a:bodyPr>
          <a:lstStyle/>
          <a:p>
            <a:pPr indent="-355600" lvl="0" marL="457200" rtl="0" algn="l">
              <a:spcBef>
                <a:spcPts val="1200"/>
              </a:spcBef>
              <a:spcAft>
                <a:spcPts val="0"/>
              </a:spcAft>
              <a:buSzPts val="2000"/>
              <a:buFont typeface="Oswald ExtraLight"/>
              <a:buChar char="●"/>
            </a:pPr>
            <a:r>
              <a:rPr lang="en" sz="2000">
                <a:latin typeface="Oswald ExtraLight"/>
                <a:ea typeface="Oswald ExtraLight"/>
                <a:cs typeface="Oswald ExtraLight"/>
                <a:sym typeface="Oswald ExtraLight"/>
              </a:rPr>
              <a:t>Data collection means gathering facts and numbers to help answer scientific questions. </a:t>
            </a:r>
            <a:endParaRPr sz="2000">
              <a:latin typeface="Oswald ExtraLight"/>
              <a:ea typeface="Oswald ExtraLight"/>
              <a:cs typeface="Oswald ExtraLight"/>
              <a:sym typeface="Oswald ExtraLight"/>
            </a:endParaRPr>
          </a:p>
          <a:p>
            <a:pPr indent="0" lvl="0" marL="0" rtl="0" algn="l">
              <a:spcBef>
                <a:spcPts val="1200"/>
              </a:spcBef>
              <a:spcAft>
                <a:spcPts val="0"/>
              </a:spcAft>
              <a:buNone/>
            </a:pPr>
            <a:r>
              <a:t/>
            </a:r>
            <a:endParaRPr sz="2000">
              <a:latin typeface="Oswald ExtraLight"/>
              <a:ea typeface="Oswald ExtraLight"/>
              <a:cs typeface="Oswald ExtraLight"/>
              <a:sym typeface="Oswald ExtraLight"/>
            </a:endParaRPr>
          </a:p>
          <a:p>
            <a:pPr indent="-355600" lvl="0" marL="457200" rtl="0" algn="l">
              <a:spcBef>
                <a:spcPts val="1200"/>
              </a:spcBef>
              <a:spcAft>
                <a:spcPts val="0"/>
              </a:spcAft>
              <a:buSzPts val="2000"/>
              <a:buFont typeface="Oswald ExtraLight"/>
              <a:buChar char="●"/>
            </a:pPr>
            <a:r>
              <a:rPr lang="en" sz="2000">
                <a:latin typeface="Oswald ExtraLight"/>
                <a:ea typeface="Oswald ExtraLight"/>
                <a:cs typeface="Oswald ExtraLight"/>
                <a:sym typeface="Oswald ExtraLight"/>
              </a:rPr>
              <a:t>We collect data by asking questions, observing things, or doing experiments, and then we organize it so we can understand it better. This is an example of using the scientific method. </a:t>
            </a:r>
            <a:endParaRPr sz="2000">
              <a:latin typeface="Oswald ExtraLight"/>
              <a:ea typeface="Oswald ExtraLight"/>
              <a:cs typeface="Oswald ExtraLight"/>
              <a:sym typeface="Oswald ExtraLight"/>
            </a:endParaRPr>
          </a:p>
          <a:p>
            <a:pPr indent="0" lvl="0" marL="0" rtl="0" algn="l">
              <a:spcBef>
                <a:spcPts val="1200"/>
              </a:spcBef>
              <a:spcAft>
                <a:spcPts val="0"/>
              </a:spcAft>
              <a:buNone/>
            </a:pPr>
            <a:r>
              <a:t/>
            </a:r>
            <a:endParaRPr sz="2000">
              <a:latin typeface="Oswald ExtraLight"/>
              <a:ea typeface="Oswald ExtraLight"/>
              <a:cs typeface="Oswald ExtraLight"/>
              <a:sym typeface="Oswald ExtraLight"/>
            </a:endParaRPr>
          </a:p>
          <a:p>
            <a:pPr indent="-355600" lvl="0" marL="457200" rtl="0" algn="l">
              <a:spcBef>
                <a:spcPts val="1200"/>
              </a:spcBef>
              <a:spcAft>
                <a:spcPts val="0"/>
              </a:spcAft>
              <a:buSzPts val="2000"/>
              <a:buFont typeface="Oswald ExtraLight"/>
              <a:buChar char="●"/>
            </a:pPr>
            <a:r>
              <a:rPr lang="en" sz="2000">
                <a:latin typeface="Oswald ExtraLight"/>
                <a:ea typeface="Oswald ExtraLight"/>
                <a:cs typeface="Oswald ExtraLight"/>
                <a:sym typeface="Oswald ExtraLight"/>
              </a:rPr>
              <a:t>Scientists use the scientific method to test ideas and find out how things work!</a:t>
            </a:r>
            <a:endParaRPr/>
          </a:p>
        </p:txBody>
      </p:sp>
      <p:pic>
        <p:nvPicPr>
          <p:cNvPr descr="a graph showing a green line going up and down (Provided by Tenor)" id="188" name="Google Shape;188;p32"/>
          <p:cNvPicPr preferRelativeResize="0"/>
          <p:nvPr/>
        </p:nvPicPr>
        <p:blipFill>
          <a:blip r:embed="rId3">
            <a:alphaModFix/>
          </a:blip>
          <a:stretch>
            <a:fillRect/>
          </a:stretch>
        </p:blipFill>
        <p:spPr>
          <a:xfrm>
            <a:off x="6766800" y="255725"/>
            <a:ext cx="2209800" cy="2209800"/>
          </a:xfrm>
          <a:prstGeom prst="rect">
            <a:avLst/>
          </a:prstGeom>
          <a:noFill/>
          <a:ln>
            <a:noFill/>
          </a:ln>
        </p:spPr>
      </p:pic>
      <p:pic>
        <p:nvPicPr>
          <p:cNvPr descr="a graph showing a red line going down on a white background (Provided by Tenor)" id="189" name="Google Shape;189;p32"/>
          <p:cNvPicPr preferRelativeResize="0"/>
          <p:nvPr/>
        </p:nvPicPr>
        <p:blipFill>
          <a:blip r:embed="rId4">
            <a:alphaModFix/>
          </a:blip>
          <a:stretch>
            <a:fillRect/>
          </a:stretch>
        </p:blipFill>
        <p:spPr>
          <a:xfrm>
            <a:off x="6766800" y="2695925"/>
            <a:ext cx="2209800" cy="2209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latin typeface="Oswald Light"/>
                <a:ea typeface="Oswald Light"/>
                <a:cs typeface="Oswald Light"/>
                <a:sym typeface="Oswald Light"/>
              </a:rPr>
              <a:t>What is the Scientific Method?</a:t>
            </a:r>
            <a:endParaRPr sz="3200">
              <a:latin typeface="Oswald Light"/>
              <a:ea typeface="Oswald Light"/>
              <a:cs typeface="Oswald Light"/>
              <a:sym typeface="Oswald Light"/>
            </a:endParaRPr>
          </a:p>
        </p:txBody>
      </p:sp>
      <p:sp>
        <p:nvSpPr>
          <p:cNvPr id="195" name="Google Shape;195;p33"/>
          <p:cNvSpPr txBox="1"/>
          <p:nvPr>
            <p:ph idx="1" type="body"/>
          </p:nvPr>
        </p:nvSpPr>
        <p:spPr>
          <a:xfrm>
            <a:off x="311700" y="1152475"/>
            <a:ext cx="8520600" cy="3863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2000">
                <a:latin typeface="Oswald ExtraLight"/>
                <a:ea typeface="Oswald ExtraLight"/>
                <a:cs typeface="Oswald ExtraLight"/>
                <a:sym typeface="Oswald ExtraLight"/>
              </a:rPr>
              <a:t>The scientific method is a way to investigate and </a:t>
            </a:r>
            <a:r>
              <a:rPr lang="en" sz="2000">
                <a:latin typeface="Oswald ExtraLight"/>
                <a:ea typeface="Oswald ExtraLight"/>
                <a:cs typeface="Oswald ExtraLight"/>
                <a:sym typeface="Oswald ExtraLight"/>
              </a:rPr>
              <a:t>understand</a:t>
            </a:r>
            <a:r>
              <a:rPr lang="en" sz="2000">
                <a:latin typeface="Oswald ExtraLight"/>
                <a:ea typeface="Oswald ExtraLight"/>
                <a:cs typeface="Oswald ExtraLight"/>
                <a:sym typeface="Oswald ExtraLight"/>
              </a:rPr>
              <a:t> the </a:t>
            </a:r>
            <a:endParaRPr sz="2000">
              <a:latin typeface="Oswald ExtraLight"/>
              <a:ea typeface="Oswald ExtraLight"/>
              <a:cs typeface="Oswald ExtraLight"/>
              <a:sym typeface="Oswald ExtraLight"/>
            </a:endParaRPr>
          </a:p>
          <a:p>
            <a:pPr indent="0" lvl="0" marL="0" rtl="0" algn="l">
              <a:spcBef>
                <a:spcPts val="1200"/>
              </a:spcBef>
              <a:spcAft>
                <a:spcPts val="0"/>
              </a:spcAft>
              <a:buNone/>
            </a:pPr>
            <a:r>
              <a:rPr lang="en" sz="2000">
                <a:latin typeface="Oswald ExtraLight"/>
                <a:ea typeface="Oswald ExtraLight"/>
                <a:cs typeface="Oswald ExtraLight"/>
                <a:sym typeface="Oswald ExtraLight"/>
              </a:rPr>
              <a:t>world around us through a series of steps. </a:t>
            </a:r>
            <a:endParaRPr sz="2000">
              <a:latin typeface="Oswald ExtraLight"/>
              <a:ea typeface="Oswald ExtraLight"/>
              <a:cs typeface="Oswald ExtraLight"/>
              <a:sym typeface="Oswald ExtraLight"/>
            </a:endParaRPr>
          </a:p>
          <a:p>
            <a:pPr indent="-355600" lvl="0" marL="457200" rtl="0" algn="l">
              <a:spcBef>
                <a:spcPts val="1200"/>
              </a:spcBef>
              <a:spcAft>
                <a:spcPts val="0"/>
              </a:spcAft>
              <a:buSzPts val="2000"/>
              <a:buFont typeface="Oswald"/>
              <a:buAutoNum type="arabicPeriod"/>
            </a:pPr>
            <a:r>
              <a:rPr b="1" lang="en" sz="2000">
                <a:latin typeface="Oswald"/>
                <a:ea typeface="Oswald"/>
                <a:cs typeface="Oswald"/>
                <a:sym typeface="Oswald"/>
              </a:rPr>
              <a:t>Making observations:</a:t>
            </a:r>
            <a:r>
              <a:rPr lang="en" sz="2000">
                <a:latin typeface="Oswald ExtraLight"/>
                <a:ea typeface="Oswald ExtraLight"/>
                <a:cs typeface="Oswald ExtraLight"/>
                <a:sym typeface="Oswald ExtraLight"/>
              </a:rPr>
              <a:t> Look at your surroundings</a:t>
            </a:r>
            <a:endParaRPr sz="2000">
              <a:latin typeface="Oswald ExtraLight"/>
              <a:ea typeface="Oswald ExtraLight"/>
              <a:cs typeface="Oswald ExtraLight"/>
              <a:sym typeface="Oswald ExtraLight"/>
            </a:endParaRPr>
          </a:p>
          <a:p>
            <a:pPr indent="-355600" lvl="0" marL="457200" rtl="0" algn="l">
              <a:spcBef>
                <a:spcPts val="0"/>
              </a:spcBef>
              <a:spcAft>
                <a:spcPts val="0"/>
              </a:spcAft>
              <a:buSzPts val="2000"/>
              <a:buFont typeface="Oswald"/>
              <a:buAutoNum type="arabicPeriod"/>
            </a:pPr>
            <a:r>
              <a:rPr b="1" lang="en" sz="2000">
                <a:latin typeface="Oswald"/>
                <a:ea typeface="Oswald"/>
                <a:cs typeface="Oswald"/>
                <a:sym typeface="Oswald"/>
              </a:rPr>
              <a:t>Asking questions: </a:t>
            </a:r>
            <a:r>
              <a:rPr lang="en" sz="2000">
                <a:latin typeface="Oswald ExtraLight"/>
                <a:ea typeface="Oswald ExtraLight"/>
                <a:cs typeface="Oswald ExtraLight"/>
                <a:sym typeface="Oswald ExtraLight"/>
              </a:rPr>
              <a:t>Come up with questions about the things you see</a:t>
            </a:r>
            <a:endParaRPr sz="2000">
              <a:latin typeface="Oswald ExtraLight"/>
              <a:ea typeface="Oswald ExtraLight"/>
              <a:cs typeface="Oswald ExtraLight"/>
              <a:sym typeface="Oswald ExtraLight"/>
            </a:endParaRPr>
          </a:p>
          <a:p>
            <a:pPr indent="-355600" lvl="0" marL="457200" rtl="0" algn="l">
              <a:spcBef>
                <a:spcPts val="0"/>
              </a:spcBef>
              <a:spcAft>
                <a:spcPts val="0"/>
              </a:spcAft>
              <a:buSzPts val="2000"/>
              <a:buFont typeface="Oswald"/>
              <a:buAutoNum type="arabicPeriod"/>
            </a:pPr>
            <a:r>
              <a:rPr b="1" lang="en" sz="2000">
                <a:latin typeface="Oswald"/>
                <a:ea typeface="Oswald"/>
                <a:cs typeface="Oswald"/>
                <a:sym typeface="Oswald"/>
              </a:rPr>
              <a:t>Research:</a:t>
            </a:r>
            <a:r>
              <a:rPr lang="en" sz="2000">
                <a:latin typeface="Oswald ExtraLight"/>
                <a:ea typeface="Oswald ExtraLight"/>
                <a:cs typeface="Oswald ExtraLight"/>
                <a:sym typeface="Oswald ExtraLight"/>
              </a:rPr>
              <a:t> Find out things that are already known about your question to gather information</a:t>
            </a:r>
            <a:endParaRPr sz="2000">
              <a:latin typeface="Oswald ExtraLight"/>
              <a:ea typeface="Oswald ExtraLight"/>
              <a:cs typeface="Oswald ExtraLight"/>
              <a:sym typeface="Oswald ExtraLight"/>
            </a:endParaRPr>
          </a:p>
          <a:p>
            <a:pPr indent="-355600" lvl="0" marL="457200" rtl="0" algn="l">
              <a:spcBef>
                <a:spcPts val="0"/>
              </a:spcBef>
              <a:spcAft>
                <a:spcPts val="0"/>
              </a:spcAft>
              <a:buSzPts val="2000"/>
              <a:buFont typeface="Oswald"/>
              <a:buAutoNum type="arabicPeriod"/>
            </a:pPr>
            <a:r>
              <a:rPr b="1" lang="en" sz="2000">
                <a:latin typeface="Oswald"/>
                <a:ea typeface="Oswald"/>
                <a:cs typeface="Oswald"/>
                <a:sym typeface="Oswald"/>
              </a:rPr>
              <a:t>Form a hypothesis: </a:t>
            </a:r>
            <a:r>
              <a:rPr lang="en" sz="2000">
                <a:latin typeface="Oswald ExtraLight"/>
                <a:ea typeface="Oswald ExtraLight"/>
                <a:cs typeface="Oswald ExtraLight"/>
                <a:sym typeface="Oswald ExtraLight"/>
              </a:rPr>
              <a:t>Make an educated guess or prediction of what you think will happen</a:t>
            </a:r>
            <a:endParaRPr sz="2000">
              <a:latin typeface="Oswald ExtraLight"/>
              <a:ea typeface="Oswald ExtraLight"/>
              <a:cs typeface="Oswald ExtraLight"/>
              <a:sym typeface="Oswald ExtraLight"/>
            </a:endParaRPr>
          </a:p>
          <a:p>
            <a:pPr indent="-355600" lvl="0" marL="457200" rtl="0" algn="l">
              <a:spcBef>
                <a:spcPts val="0"/>
              </a:spcBef>
              <a:spcAft>
                <a:spcPts val="0"/>
              </a:spcAft>
              <a:buSzPts val="2000"/>
              <a:buFont typeface="Oswald"/>
              <a:buAutoNum type="arabicPeriod"/>
            </a:pPr>
            <a:r>
              <a:rPr b="1" lang="en" sz="2000">
                <a:latin typeface="Oswald"/>
                <a:ea typeface="Oswald"/>
                <a:cs typeface="Oswald"/>
                <a:sym typeface="Oswald"/>
              </a:rPr>
              <a:t>Conduct an experiment: </a:t>
            </a:r>
            <a:r>
              <a:rPr lang="en" sz="2000">
                <a:latin typeface="Oswald ExtraLight"/>
                <a:ea typeface="Oswald ExtraLight"/>
                <a:cs typeface="Oswald ExtraLight"/>
                <a:sym typeface="Oswald ExtraLight"/>
              </a:rPr>
              <a:t>Design</a:t>
            </a:r>
            <a:r>
              <a:rPr lang="en" sz="2000">
                <a:latin typeface="Oswald ExtraLight"/>
                <a:ea typeface="Oswald ExtraLight"/>
                <a:cs typeface="Oswald ExtraLight"/>
                <a:sym typeface="Oswald ExtraLight"/>
              </a:rPr>
              <a:t> and </a:t>
            </a:r>
            <a:r>
              <a:rPr lang="en" sz="2000">
                <a:latin typeface="Oswald ExtraLight"/>
                <a:ea typeface="Oswald ExtraLight"/>
                <a:cs typeface="Oswald ExtraLight"/>
                <a:sym typeface="Oswald ExtraLight"/>
              </a:rPr>
              <a:t>conduct</a:t>
            </a:r>
            <a:r>
              <a:rPr lang="en" sz="2000">
                <a:latin typeface="Oswald ExtraLight"/>
                <a:ea typeface="Oswald ExtraLight"/>
                <a:cs typeface="Oswald ExtraLight"/>
                <a:sym typeface="Oswald ExtraLight"/>
              </a:rPr>
              <a:t> a test to see if your hypothesis is correct!</a:t>
            </a:r>
            <a:endParaRPr sz="2000">
              <a:latin typeface="Oswald ExtraLight"/>
              <a:ea typeface="Oswald ExtraLight"/>
              <a:cs typeface="Oswald ExtraLight"/>
              <a:sym typeface="Oswald ExtraLight"/>
            </a:endParaRPr>
          </a:p>
          <a:p>
            <a:pPr indent="-355600" lvl="0" marL="457200" rtl="0" algn="l">
              <a:spcBef>
                <a:spcPts val="0"/>
              </a:spcBef>
              <a:spcAft>
                <a:spcPts val="0"/>
              </a:spcAft>
              <a:buSzPts val="2000"/>
              <a:buFont typeface="Oswald"/>
              <a:buAutoNum type="arabicPeriod"/>
            </a:pPr>
            <a:r>
              <a:rPr b="1" lang="en" sz="2000">
                <a:latin typeface="Oswald"/>
                <a:ea typeface="Oswald"/>
                <a:cs typeface="Oswald"/>
                <a:sym typeface="Oswald"/>
              </a:rPr>
              <a:t>Analyze results: </a:t>
            </a:r>
            <a:r>
              <a:rPr lang="en" sz="2000">
                <a:latin typeface="Oswald ExtraLight"/>
                <a:ea typeface="Oswald ExtraLight"/>
                <a:cs typeface="Oswald ExtraLight"/>
                <a:sym typeface="Oswald ExtraLight"/>
              </a:rPr>
              <a:t>Look at the data collected from your experiment and see if it supports your hypothesis</a:t>
            </a:r>
            <a:endParaRPr sz="2000">
              <a:latin typeface="Oswald ExtraLight"/>
              <a:ea typeface="Oswald ExtraLight"/>
              <a:cs typeface="Oswald ExtraLight"/>
              <a:sym typeface="Oswald ExtraLight"/>
            </a:endParaRPr>
          </a:p>
          <a:p>
            <a:pPr indent="-355600" lvl="0" marL="457200" rtl="0" algn="l">
              <a:spcBef>
                <a:spcPts val="0"/>
              </a:spcBef>
              <a:spcAft>
                <a:spcPts val="0"/>
              </a:spcAft>
              <a:buSzPts val="2000"/>
              <a:buFont typeface="Oswald"/>
              <a:buAutoNum type="arabicPeriod"/>
            </a:pPr>
            <a:r>
              <a:rPr b="1" lang="en" sz="2000">
                <a:latin typeface="Oswald"/>
                <a:ea typeface="Oswald"/>
                <a:cs typeface="Oswald"/>
                <a:sym typeface="Oswald"/>
              </a:rPr>
              <a:t>Draw conclusions: </a:t>
            </a:r>
            <a:r>
              <a:rPr lang="en" sz="2000">
                <a:latin typeface="Oswald ExtraLight"/>
                <a:ea typeface="Oswald ExtraLight"/>
                <a:cs typeface="Oswald ExtraLight"/>
                <a:sym typeface="Oswald ExtraLight"/>
              </a:rPr>
              <a:t>After making a hypothesis, testing it, and collecting data you can now determine if your hypothesis was correct or not</a:t>
            </a:r>
            <a:endParaRPr b="1" sz="2000">
              <a:latin typeface="Oswald"/>
              <a:ea typeface="Oswald"/>
              <a:cs typeface="Oswald"/>
              <a:sym typeface="Oswa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4"/>
          <p:cNvSpPr txBox="1"/>
          <p:nvPr>
            <p:ph type="title"/>
          </p:nvPr>
        </p:nvSpPr>
        <p:spPr>
          <a:xfrm>
            <a:off x="311700" y="445025"/>
            <a:ext cx="8520600" cy="1086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3211">
                <a:latin typeface="Oswald Light"/>
                <a:ea typeface="Oswald Light"/>
                <a:cs typeface="Oswald Light"/>
                <a:sym typeface="Oswald Light"/>
              </a:rPr>
              <a:t>How Can We Collect Data in a Classroom?</a:t>
            </a:r>
            <a:endParaRPr sz="3211">
              <a:latin typeface="Oswald Light"/>
              <a:ea typeface="Oswald Light"/>
              <a:cs typeface="Oswald Light"/>
              <a:sym typeface="Oswald Light"/>
            </a:endParaRPr>
          </a:p>
        </p:txBody>
      </p:sp>
      <p:sp>
        <p:nvSpPr>
          <p:cNvPr id="201" name="Google Shape;201;p34"/>
          <p:cNvSpPr txBox="1"/>
          <p:nvPr>
            <p:ph idx="1" type="body"/>
          </p:nvPr>
        </p:nvSpPr>
        <p:spPr>
          <a:xfrm>
            <a:off x="311700" y="1325875"/>
            <a:ext cx="4260300" cy="35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latin typeface="Oswald"/>
                <a:ea typeface="Oswald"/>
                <a:cs typeface="Oswald"/>
                <a:sym typeface="Oswald"/>
              </a:rPr>
              <a:t>Activity 1: </a:t>
            </a:r>
            <a:endParaRPr b="1" sz="2000">
              <a:latin typeface="Oswald"/>
              <a:ea typeface="Oswald"/>
              <a:cs typeface="Oswald"/>
              <a:sym typeface="Oswald"/>
            </a:endParaRPr>
          </a:p>
          <a:p>
            <a:pPr indent="-355600" lvl="0" marL="457200" rtl="0" algn="l">
              <a:spcBef>
                <a:spcPts val="1200"/>
              </a:spcBef>
              <a:spcAft>
                <a:spcPts val="0"/>
              </a:spcAft>
              <a:buSzPts val="2000"/>
              <a:buFont typeface="Oswald ExtraLight"/>
              <a:buChar char="-"/>
            </a:pPr>
            <a:r>
              <a:rPr lang="en" sz="2000">
                <a:latin typeface="Oswald ExtraLight"/>
                <a:ea typeface="Oswald ExtraLight"/>
                <a:cs typeface="Oswald ExtraLight"/>
                <a:sym typeface="Oswald ExtraLight"/>
              </a:rPr>
              <a:t>By using a water level sensor, we can practice collecting real-world data. Students measure water levels daily in a container or outdoor feature and record the results. They’ll then create line graphs to see changes over time. This shows how scientists monitor water patterns in real life.</a:t>
            </a:r>
            <a:endParaRPr sz="2000">
              <a:latin typeface="Oswald ExtraLight"/>
              <a:ea typeface="Oswald ExtraLight"/>
              <a:cs typeface="Oswald ExtraLight"/>
              <a:sym typeface="Oswald ExtraLight"/>
            </a:endParaRPr>
          </a:p>
        </p:txBody>
      </p:sp>
      <p:pic>
        <p:nvPicPr>
          <p:cNvPr descr="Water level meter located in the water of the dam. Concepts for natural resources. (Provided by Getty Images)" id="202" name="Google Shape;202;p34"/>
          <p:cNvPicPr preferRelativeResize="0"/>
          <p:nvPr/>
        </p:nvPicPr>
        <p:blipFill>
          <a:blip r:embed="rId3">
            <a:alphaModFix/>
          </a:blip>
          <a:stretch>
            <a:fillRect/>
          </a:stretch>
        </p:blipFill>
        <p:spPr>
          <a:xfrm>
            <a:off x="4957075" y="1875975"/>
            <a:ext cx="3617377" cy="24109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Oswald Light"/>
                <a:ea typeface="Oswald Light"/>
                <a:cs typeface="Oswald Light"/>
                <a:sym typeface="Oswald Light"/>
              </a:rPr>
              <a:t>How the Sensor Helps</a:t>
            </a:r>
            <a:endParaRPr sz="3220">
              <a:latin typeface="Oswald Light"/>
              <a:ea typeface="Oswald Light"/>
              <a:cs typeface="Oswald Light"/>
              <a:sym typeface="Oswald Light"/>
            </a:endParaRPr>
          </a:p>
        </p:txBody>
      </p:sp>
      <p:sp>
        <p:nvSpPr>
          <p:cNvPr id="208" name="Google Shape;208;p35"/>
          <p:cNvSpPr txBox="1"/>
          <p:nvPr>
            <p:ph idx="1" type="body"/>
          </p:nvPr>
        </p:nvSpPr>
        <p:spPr>
          <a:xfrm>
            <a:off x="311700" y="1152475"/>
            <a:ext cx="5254500" cy="3639300"/>
          </a:xfrm>
          <a:prstGeom prst="rect">
            <a:avLst/>
          </a:prstGeom>
        </p:spPr>
        <p:txBody>
          <a:bodyPr anchorCtr="0" anchor="t" bIns="91425" lIns="91425" spcFirstLastPara="1" rIns="91425" wrap="square" tIns="91425">
            <a:normAutofit lnSpcReduction="10000"/>
          </a:bodyPr>
          <a:lstStyle/>
          <a:p>
            <a:pPr indent="0" lvl="0" marL="0" rtl="0" algn="l">
              <a:lnSpc>
                <a:spcPct val="200000"/>
              </a:lnSpc>
              <a:spcBef>
                <a:spcPts val="0"/>
              </a:spcBef>
              <a:spcAft>
                <a:spcPts val="0"/>
              </a:spcAft>
              <a:buNone/>
            </a:pPr>
            <a:r>
              <a:rPr lang="en" sz="2000">
                <a:latin typeface="Oswald ExtraLight"/>
                <a:ea typeface="Oswald ExtraLight"/>
                <a:cs typeface="Oswald ExtraLight"/>
                <a:sym typeface="Oswald ExtraLight"/>
              </a:rPr>
              <a:t>The IO Rodeo water level sensor helps students:</a:t>
            </a:r>
            <a:endParaRPr sz="2000">
              <a:latin typeface="Oswald ExtraLight"/>
              <a:ea typeface="Oswald ExtraLight"/>
              <a:cs typeface="Oswald ExtraLight"/>
              <a:sym typeface="Oswald ExtraLight"/>
            </a:endParaRPr>
          </a:p>
          <a:p>
            <a:pPr indent="-355600" lvl="0" marL="457200" rtl="0" algn="l">
              <a:lnSpc>
                <a:spcPct val="200000"/>
              </a:lnSpc>
              <a:spcBef>
                <a:spcPts val="1200"/>
              </a:spcBef>
              <a:spcAft>
                <a:spcPts val="0"/>
              </a:spcAft>
              <a:buSzPts val="2000"/>
              <a:buFont typeface="Oswald ExtraLight"/>
              <a:buChar char="-"/>
            </a:pPr>
            <a:r>
              <a:rPr lang="en" sz="2000">
                <a:latin typeface="Oswald ExtraLight"/>
                <a:ea typeface="Oswald ExtraLight"/>
                <a:cs typeface="Oswald ExtraLight"/>
                <a:sym typeface="Oswald ExtraLight"/>
              </a:rPr>
              <a:t>Collect real numbers (data) about how high the water is</a:t>
            </a:r>
            <a:endParaRPr sz="2000">
              <a:latin typeface="Oswald ExtraLight"/>
              <a:ea typeface="Oswald ExtraLight"/>
              <a:cs typeface="Oswald ExtraLight"/>
              <a:sym typeface="Oswald ExtraLight"/>
            </a:endParaRPr>
          </a:p>
          <a:p>
            <a:pPr indent="-355600" lvl="0" marL="457200" rtl="0" algn="l">
              <a:lnSpc>
                <a:spcPct val="200000"/>
              </a:lnSpc>
              <a:spcBef>
                <a:spcPts val="0"/>
              </a:spcBef>
              <a:spcAft>
                <a:spcPts val="0"/>
              </a:spcAft>
              <a:buSzPts val="2000"/>
              <a:buFont typeface="Oswald ExtraLight"/>
              <a:buChar char="-"/>
            </a:pPr>
            <a:r>
              <a:rPr lang="en" sz="2000">
                <a:latin typeface="Oswald ExtraLight"/>
                <a:ea typeface="Oswald ExtraLight"/>
                <a:cs typeface="Oswald ExtraLight"/>
                <a:sym typeface="Oswald ExtraLight"/>
              </a:rPr>
              <a:t>Test ideas (like how fast water rises during rain)</a:t>
            </a:r>
            <a:endParaRPr sz="2000">
              <a:latin typeface="Oswald ExtraLight"/>
              <a:ea typeface="Oswald ExtraLight"/>
              <a:cs typeface="Oswald ExtraLight"/>
              <a:sym typeface="Oswald ExtraLight"/>
            </a:endParaRPr>
          </a:p>
          <a:p>
            <a:pPr indent="-355600" lvl="0" marL="457200" rtl="0" algn="l">
              <a:lnSpc>
                <a:spcPct val="200000"/>
              </a:lnSpc>
              <a:spcBef>
                <a:spcPts val="0"/>
              </a:spcBef>
              <a:spcAft>
                <a:spcPts val="0"/>
              </a:spcAft>
              <a:buSzPts val="2000"/>
              <a:buFont typeface="Oswald ExtraLight"/>
              <a:buChar char="-"/>
            </a:pPr>
            <a:r>
              <a:rPr lang="en" sz="2000">
                <a:latin typeface="Oswald ExtraLight"/>
                <a:ea typeface="Oswald ExtraLight"/>
                <a:cs typeface="Oswald ExtraLight"/>
                <a:sym typeface="Oswald ExtraLight"/>
              </a:rPr>
              <a:t>Make graphs and charts</a:t>
            </a:r>
            <a:endParaRPr sz="2000">
              <a:latin typeface="Oswald ExtraLight"/>
              <a:ea typeface="Oswald ExtraLight"/>
              <a:cs typeface="Oswald ExtraLight"/>
              <a:sym typeface="Oswald ExtraLight"/>
            </a:endParaRPr>
          </a:p>
          <a:p>
            <a:pPr indent="-355600" lvl="0" marL="457200" rtl="0" algn="l">
              <a:lnSpc>
                <a:spcPct val="200000"/>
              </a:lnSpc>
              <a:spcBef>
                <a:spcPts val="0"/>
              </a:spcBef>
              <a:spcAft>
                <a:spcPts val="0"/>
              </a:spcAft>
              <a:buSzPts val="2000"/>
              <a:buFont typeface="Oswald ExtraLight"/>
              <a:buChar char="-"/>
            </a:pPr>
            <a:r>
              <a:rPr lang="en" sz="2000">
                <a:latin typeface="Oswald ExtraLight"/>
                <a:ea typeface="Oswald ExtraLight"/>
                <a:cs typeface="Oswald ExtraLight"/>
                <a:sym typeface="Oswald ExtraLight"/>
              </a:rPr>
              <a:t>Calculate mean, median, and mode with real </a:t>
            </a:r>
            <a:r>
              <a:rPr lang="en" sz="2000">
                <a:latin typeface="Oswald ExtraLight"/>
                <a:ea typeface="Oswald ExtraLight"/>
                <a:cs typeface="Oswald ExtraLight"/>
                <a:sym typeface="Oswald ExtraLight"/>
              </a:rPr>
              <a:t>measurements</a:t>
            </a:r>
            <a:r>
              <a:rPr lang="en" sz="2000">
                <a:latin typeface="Oswald ExtraLight"/>
                <a:ea typeface="Oswald ExtraLight"/>
                <a:cs typeface="Oswald ExtraLight"/>
                <a:sym typeface="Oswald ExtraLight"/>
              </a:rPr>
              <a:t> </a:t>
            </a:r>
            <a:endParaRPr sz="2000">
              <a:latin typeface="Oswald ExtraLight"/>
              <a:ea typeface="Oswald ExtraLight"/>
              <a:cs typeface="Oswald ExtraLight"/>
              <a:sym typeface="Oswald ExtraLight"/>
            </a:endParaRPr>
          </a:p>
        </p:txBody>
      </p:sp>
      <p:pic>
        <p:nvPicPr>
          <p:cNvPr id="209" name="Google Shape;209;p35"/>
          <p:cNvPicPr preferRelativeResize="0"/>
          <p:nvPr/>
        </p:nvPicPr>
        <p:blipFill>
          <a:blip r:embed="rId3">
            <a:alphaModFix/>
          </a:blip>
          <a:stretch>
            <a:fillRect/>
          </a:stretch>
        </p:blipFill>
        <p:spPr>
          <a:xfrm>
            <a:off x="5658900" y="1170125"/>
            <a:ext cx="3332700" cy="328826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6"/>
          <p:cNvSpPr txBox="1"/>
          <p:nvPr>
            <p:ph type="title"/>
          </p:nvPr>
        </p:nvSpPr>
        <p:spPr>
          <a:xfrm>
            <a:off x="597000" y="936400"/>
            <a:ext cx="7950000" cy="1937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5200">
                <a:solidFill>
                  <a:srgbClr val="274E13"/>
                </a:solidFill>
                <a:latin typeface="Oswald Light"/>
                <a:ea typeface="Oswald Light"/>
                <a:cs typeface="Oswald Light"/>
                <a:sym typeface="Oswald Light"/>
              </a:rPr>
              <a:t>Understanding Human Impacts Using a Water Level Sensor</a:t>
            </a:r>
            <a:endParaRPr sz="5200">
              <a:solidFill>
                <a:srgbClr val="274E13"/>
              </a:solidFill>
              <a:latin typeface="Oswald Light"/>
              <a:ea typeface="Oswald Light"/>
              <a:cs typeface="Oswald Light"/>
              <a:sym typeface="Oswald Light"/>
            </a:endParaRPr>
          </a:p>
        </p:txBody>
      </p:sp>
      <p:sp>
        <p:nvSpPr>
          <p:cNvPr id="215" name="Google Shape;215;p36"/>
          <p:cNvSpPr txBox="1"/>
          <p:nvPr/>
        </p:nvSpPr>
        <p:spPr>
          <a:xfrm>
            <a:off x="2208300" y="2930650"/>
            <a:ext cx="4727400" cy="72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500">
                <a:solidFill>
                  <a:srgbClr val="6AA84F"/>
                </a:solidFill>
                <a:latin typeface="Oswald Light"/>
                <a:ea typeface="Oswald Light"/>
                <a:cs typeface="Oswald Light"/>
                <a:sym typeface="Oswald Light"/>
              </a:rPr>
              <a:t>Middle School Level</a:t>
            </a:r>
            <a:endParaRPr sz="3500">
              <a:solidFill>
                <a:srgbClr val="6AA84F"/>
              </a:solidFill>
              <a:latin typeface="Oswald Light"/>
              <a:ea typeface="Oswald Light"/>
              <a:cs typeface="Oswald Light"/>
              <a:sym typeface="Oswald 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7"/>
          <p:cNvSpPr txBox="1"/>
          <p:nvPr>
            <p:ph type="title"/>
          </p:nvPr>
        </p:nvSpPr>
        <p:spPr>
          <a:xfrm>
            <a:off x="311700" y="445025"/>
            <a:ext cx="8520600" cy="118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latin typeface="Oswald Light"/>
                <a:ea typeface="Oswald Light"/>
                <a:cs typeface="Oswald Light"/>
                <a:sym typeface="Oswald Light"/>
              </a:rPr>
              <a:t>What are Human Impacts and how to they affect the Environment?</a:t>
            </a:r>
            <a:endParaRPr sz="3200">
              <a:latin typeface="Oswald Light"/>
              <a:ea typeface="Oswald Light"/>
              <a:cs typeface="Oswald Light"/>
              <a:sym typeface="Oswald Light"/>
            </a:endParaRPr>
          </a:p>
        </p:txBody>
      </p:sp>
      <p:sp>
        <p:nvSpPr>
          <p:cNvPr id="221" name="Google Shape;221;p37"/>
          <p:cNvSpPr txBox="1"/>
          <p:nvPr>
            <p:ph idx="1" type="body"/>
          </p:nvPr>
        </p:nvSpPr>
        <p:spPr>
          <a:xfrm>
            <a:off x="311700" y="1627625"/>
            <a:ext cx="8520600" cy="3333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000">
                <a:latin typeface="Oswald ExtraLight"/>
                <a:ea typeface="Oswald ExtraLight"/>
                <a:cs typeface="Oswald ExtraLight"/>
                <a:sym typeface="Oswald ExtraLight"/>
              </a:rPr>
              <a:t>Human impacts on the environment are things like pollution, deforestation, and climate change. All of these examples are ways our actions have changed the world, and not in good ways. All of these examples have serious impacts on plant and animal life. </a:t>
            </a:r>
            <a:endParaRPr sz="2000">
              <a:latin typeface="Oswald ExtraLight"/>
              <a:ea typeface="Oswald ExtraLight"/>
              <a:cs typeface="Oswald ExtraLight"/>
              <a:sym typeface="Oswald ExtraLight"/>
            </a:endParaRPr>
          </a:p>
        </p:txBody>
      </p:sp>
      <p:pic>
        <p:nvPicPr>
          <p:cNvPr descr="Seal and sea pollution (Provided by Getty Images)" id="222" name="Google Shape;222;p37"/>
          <p:cNvPicPr preferRelativeResize="0"/>
          <p:nvPr/>
        </p:nvPicPr>
        <p:blipFill>
          <a:blip r:embed="rId3">
            <a:alphaModFix/>
          </a:blip>
          <a:stretch>
            <a:fillRect/>
          </a:stretch>
        </p:blipFill>
        <p:spPr>
          <a:xfrm>
            <a:off x="1337850" y="3047102"/>
            <a:ext cx="3455176" cy="1722524"/>
          </a:xfrm>
          <a:prstGeom prst="rect">
            <a:avLst/>
          </a:prstGeom>
          <a:noFill/>
          <a:ln>
            <a:noFill/>
          </a:ln>
        </p:spPr>
      </p:pic>
      <p:pic>
        <p:nvPicPr>
          <p:cNvPr descr="Deforestation environmental damage (Provided by Getty Images)" id="223" name="Google Shape;223;p37"/>
          <p:cNvPicPr preferRelativeResize="0"/>
          <p:nvPr/>
        </p:nvPicPr>
        <p:blipFill>
          <a:blip r:embed="rId4">
            <a:alphaModFix/>
          </a:blip>
          <a:stretch>
            <a:fillRect/>
          </a:stretch>
        </p:blipFill>
        <p:spPr>
          <a:xfrm>
            <a:off x="5183551" y="3047100"/>
            <a:ext cx="2582528" cy="172252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Oswald Light"/>
                <a:ea typeface="Oswald Light"/>
                <a:cs typeface="Oswald Light"/>
                <a:sym typeface="Oswald Light"/>
              </a:rPr>
              <a:t>Human Impact Examples: </a:t>
            </a:r>
            <a:r>
              <a:rPr lang="en" sz="3220">
                <a:latin typeface="Oswald Light"/>
                <a:ea typeface="Oswald Light"/>
                <a:cs typeface="Oswald Light"/>
                <a:sym typeface="Oswald Light"/>
              </a:rPr>
              <a:t>Pollution</a:t>
            </a:r>
            <a:endParaRPr sz="3220">
              <a:latin typeface="Oswald Light"/>
              <a:ea typeface="Oswald Light"/>
              <a:cs typeface="Oswald Light"/>
              <a:sym typeface="Oswald Light"/>
            </a:endParaRPr>
          </a:p>
        </p:txBody>
      </p:sp>
      <p:sp>
        <p:nvSpPr>
          <p:cNvPr id="229" name="Google Shape;229;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lang="en" sz="2000">
                <a:latin typeface="Oswald ExtraLight"/>
                <a:ea typeface="Oswald ExtraLight"/>
                <a:cs typeface="Oswald ExtraLight"/>
                <a:sym typeface="Oswald ExtraLight"/>
              </a:rPr>
              <a:t>Pollution can harm living things by contaminating the habitat they live in. Some ways humans contribute to pollution is by littering, daily activities like driving cars, and by burning fossil fuels. </a:t>
            </a:r>
            <a:endParaRPr sz="2000">
              <a:latin typeface="Oswald ExtraLight"/>
              <a:ea typeface="Oswald ExtraLight"/>
              <a:cs typeface="Oswald ExtraLight"/>
              <a:sym typeface="Oswald ExtraLight"/>
            </a:endParaRPr>
          </a:p>
        </p:txBody>
      </p:sp>
      <p:pic>
        <p:nvPicPr>
          <p:cNvPr descr="Factory Smoke Rising in Air Pollution Sunrise Sunset (Provided by Getty Images)" id="230" name="Google Shape;230;p38"/>
          <p:cNvPicPr preferRelativeResize="0"/>
          <p:nvPr/>
        </p:nvPicPr>
        <p:blipFill>
          <a:blip r:embed="rId3">
            <a:alphaModFix/>
          </a:blip>
          <a:stretch>
            <a:fillRect/>
          </a:stretch>
        </p:blipFill>
        <p:spPr>
          <a:xfrm>
            <a:off x="1603915" y="2166450"/>
            <a:ext cx="5936174" cy="28202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Oswald Light"/>
                <a:ea typeface="Oswald Light"/>
                <a:cs typeface="Oswald Light"/>
                <a:sym typeface="Oswald Light"/>
              </a:rPr>
              <a:t>Human Impact Examples: Deforestation</a:t>
            </a:r>
            <a:endParaRPr sz="3220">
              <a:latin typeface="Oswald Light"/>
              <a:ea typeface="Oswald Light"/>
              <a:cs typeface="Oswald Light"/>
              <a:sym typeface="Oswald Light"/>
            </a:endParaRPr>
          </a:p>
        </p:txBody>
      </p:sp>
      <p:sp>
        <p:nvSpPr>
          <p:cNvPr id="236" name="Google Shape;236;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latin typeface="Oswald ExtraLight"/>
                <a:ea typeface="Oswald ExtraLight"/>
                <a:cs typeface="Oswald ExtraLight"/>
                <a:sym typeface="Oswald ExtraLight"/>
              </a:rPr>
              <a:t>Deforestation is the act of cutting down trees and taking away natural habitats. Trees help create oxygen and clean air for the environment, by taking them away it leads to more pollution in the air. </a:t>
            </a:r>
            <a:endParaRPr sz="2000">
              <a:latin typeface="Oswald ExtraLight"/>
              <a:ea typeface="Oswald ExtraLight"/>
              <a:cs typeface="Oswald ExtraLight"/>
              <a:sym typeface="Oswald ExtraLight"/>
            </a:endParaRPr>
          </a:p>
          <a:p>
            <a:pPr indent="0" lvl="0" marL="0" rtl="0" algn="l">
              <a:spcBef>
                <a:spcPts val="1200"/>
              </a:spcBef>
              <a:spcAft>
                <a:spcPts val="1200"/>
              </a:spcAft>
              <a:buNone/>
            </a:pPr>
            <a:r>
              <a:t/>
            </a:r>
            <a:endParaRPr sz="2000">
              <a:latin typeface="Oswald ExtraLight"/>
              <a:ea typeface="Oswald ExtraLight"/>
              <a:cs typeface="Oswald ExtraLight"/>
              <a:sym typeface="Oswald ExtraLight"/>
            </a:endParaRPr>
          </a:p>
        </p:txBody>
      </p:sp>
      <p:pic>
        <p:nvPicPr>
          <p:cNvPr descr="Cutting down the jungle for oil palm plantations. Borneo, Malaysia. (Provided by Getty Images)" id="237" name="Google Shape;237;p39"/>
          <p:cNvPicPr preferRelativeResize="0"/>
          <p:nvPr/>
        </p:nvPicPr>
        <p:blipFill>
          <a:blip r:embed="rId3">
            <a:alphaModFix/>
          </a:blip>
          <a:stretch>
            <a:fillRect/>
          </a:stretch>
        </p:blipFill>
        <p:spPr>
          <a:xfrm>
            <a:off x="1113045" y="2337462"/>
            <a:ext cx="3296102" cy="2467249"/>
          </a:xfrm>
          <a:prstGeom prst="rect">
            <a:avLst/>
          </a:prstGeom>
          <a:noFill/>
          <a:ln>
            <a:noFill/>
          </a:ln>
        </p:spPr>
      </p:pic>
      <p:pic>
        <p:nvPicPr>
          <p:cNvPr descr="Deforestation (Provided by Getty Images)" id="238" name="Google Shape;238;p39"/>
          <p:cNvPicPr preferRelativeResize="0"/>
          <p:nvPr/>
        </p:nvPicPr>
        <p:blipFill>
          <a:blip r:embed="rId4">
            <a:alphaModFix/>
          </a:blip>
          <a:stretch>
            <a:fillRect/>
          </a:stretch>
        </p:blipFill>
        <p:spPr>
          <a:xfrm>
            <a:off x="4819225" y="2324425"/>
            <a:ext cx="3324431" cy="249332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220">
                <a:latin typeface="Oswald Light"/>
                <a:ea typeface="Oswald Light"/>
                <a:cs typeface="Oswald Light"/>
                <a:sym typeface="Oswald Light"/>
              </a:rPr>
              <a:t>Human Impact Examples: </a:t>
            </a:r>
            <a:r>
              <a:rPr lang="en" sz="3220">
                <a:latin typeface="Oswald Light"/>
                <a:ea typeface="Oswald Light"/>
                <a:cs typeface="Oswald Light"/>
                <a:sym typeface="Oswald Light"/>
              </a:rPr>
              <a:t>Climate</a:t>
            </a:r>
            <a:r>
              <a:rPr lang="en" sz="3220">
                <a:latin typeface="Oswald Light"/>
                <a:ea typeface="Oswald Light"/>
                <a:cs typeface="Oswald Light"/>
                <a:sym typeface="Oswald Light"/>
              </a:rPr>
              <a:t> Change</a:t>
            </a:r>
            <a:endParaRPr sz="3220">
              <a:latin typeface="Oswald Light"/>
              <a:ea typeface="Oswald Light"/>
              <a:cs typeface="Oswald Light"/>
              <a:sym typeface="Oswald Light"/>
            </a:endParaRPr>
          </a:p>
        </p:txBody>
      </p:sp>
      <p:sp>
        <p:nvSpPr>
          <p:cNvPr id="244" name="Google Shape;244;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latin typeface="Oswald ExtraLight"/>
                <a:ea typeface="Oswald ExtraLight"/>
                <a:cs typeface="Oswald ExtraLight"/>
                <a:sym typeface="Oswald ExtraLight"/>
              </a:rPr>
              <a:t>Climate change is where the Earth is getting warmer because of all the pollution that gets trapped in the atmosphere. This causes ice and glaciers to melt, impacting polar habitats. It also causes the sea level to rise which impacts coastal habitats and people living at the beach. </a:t>
            </a:r>
            <a:endParaRPr sz="2000">
              <a:latin typeface="Oswald ExtraLight"/>
              <a:ea typeface="Oswald ExtraLight"/>
              <a:cs typeface="Oswald ExtraLight"/>
              <a:sym typeface="Oswald ExtraLight"/>
            </a:endParaRPr>
          </a:p>
          <a:p>
            <a:pPr indent="0" lvl="0" marL="0" rtl="0" algn="l">
              <a:spcBef>
                <a:spcPts val="1200"/>
              </a:spcBef>
              <a:spcAft>
                <a:spcPts val="1200"/>
              </a:spcAft>
              <a:buNone/>
            </a:pPr>
            <a:r>
              <a:t/>
            </a:r>
            <a:endParaRPr sz="2000">
              <a:latin typeface="Oswald ExtraLight"/>
              <a:ea typeface="Oswald ExtraLight"/>
              <a:cs typeface="Oswald ExtraLight"/>
              <a:sym typeface="Oswald ExtraLight"/>
            </a:endParaRPr>
          </a:p>
        </p:txBody>
      </p:sp>
      <p:pic>
        <p:nvPicPr>
          <p:cNvPr id="245" name="Google Shape;245;p40"/>
          <p:cNvPicPr preferRelativeResize="0"/>
          <p:nvPr/>
        </p:nvPicPr>
        <p:blipFill>
          <a:blip r:embed="rId3">
            <a:alphaModFix/>
          </a:blip>
          <a:stretch>
            <a:fillRect/>
          </a:stretch>
        </p:blipFill>
        <p:spPr>
          <a:xfrm>
            <a:off x="2724595" y="2571750"/>
            <a:ext cx="3694799" cy="217575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1"/>
          <p:cNvSpPr txBox="1"/>
          <p:nvPr>
            <p:ph type="title"/>
          </p:nvPr>
        </p:nvSpPr>
        <p:spPr>
          <a:xfrm>
            <a:off x="311700" y="445025"/>
            <a:ext cx="8520600" cy="1086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3211">
                <a:latin typeface="Oswald Light"/>
                <a:ea typeface="Oswald Light"/>
                <a:cs typeface="Oswald Light"/>
                <a:sym typeface="Oswald Light"/>
              </a:rPr>
              <a:t>How Can We Measure Human Impact in a Classroom?</a:t>
            </a:r>
            <a:endParaRPr sz="3211">
              <a:latin typeface="Oswald Light"/>
              <a:ea typeface="Oswald Light"/>
              <a:cs typeface="Oswald Light"/>
              <a:sym typeface="Oswald Light"/>
            </a:endParaRPr>
          </a:p>
        </p:txBody>
      </p:sp>
      <p:sp>
        <p:nvSpPr>
          <p:cNvPr id="251" name="Google Shape;251;p41"/>
          <p:cNvSpPr txBox="1"/>
          <p:nvPr>
            <p:ph idx="1" type="body"/>
          </p:nvPr>
        </p:nvSpPr>
        <p:spPr>
          <a:xfrm>
            <a:off x="311700" y="1655075"/>
            <a:ext cx="4260300" cy="322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a:latin typeface="Oswald"/>
                <a:ea typeface="Oswald"/>
                <a:cs typeface="Oswald"/>
                <a:sym typeface="Oswald"/>
              </a:rPr>
              <a:t>Activity 1: </a:t>
            </a:r>
            <a:endParaRPr b="1" sz="2000">
              <a:latin typeface="Oswald"/>
              <a:ea typeface="Oswald"/>
              <a:cs typeface="Oswald"/>
              <a:sym typeface="Oswald"/>
            </a:endParaRPr>
          </a:p>
          <a:p>
            <a:pPr indent="-355600" lvl="0" marL="457200" rtl="0" algn="l">
              <a:spcBef>
                <a:spcPts val="1200"/>
              </a:spcBef>
              <a:spcAft>
                <a:spcPts val="0"/>
              </a:spcAft>
              <a:buSzPts val="2000"/>
              <a:buFont typeface="Oswald ExtraLight"/>
              <a:buChar char="-"/>
            </a:pPr>
            <a:r>
              <a:rPr lang="en" sz="2000">
                <a:latin typeface="Oswald ExtraLight"/>
                <a:ea typeface="Oswald ExtraLight"/>
                <a:cs typeface="Oswald ExtraLight"/>
                <a:sym typeface="Oswald ExtraLight"/>
              </a:rPr>
              <a:t>By using a water level sensor, we can track how pollution moves with water. Students create a small “city” in a tray and use colored water to simulate pollution. They measure how quickly it spreads during simulated rainfall.</a:t>
            </a:r>
            <a:endParaRPr sz="2000">
              <a:latin typeface="Oswald ExtraLight"/>
              <a:ea typeface="Oswald ExtraLight"/>
              <a:cs typeface="Oswald ExtraLight"/>
              <a:sym typeface="Oswald ExtraLight"/>
            </a:endParaRPr>
          </a:p>
        </p:txBody>
      </p:sp>
      <p:sp>
        <p:nvSpPr>
          <p:cNvPr id="252" name="Google Shape;252;p41"/>
          <p:cNvSpPr txBox="1"/>
          <p:nvPr>
            <p:ph idx="1" type="body"/>
          </p:nvPr>
        </p:nvSpPr>
        <p:spPr>
          <a:xfrm>
            <a:off x="4640575" y="1655075"/>
            <a:ext cx="4260300" cy="322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a:latin typeface="Oswald"/>
                <a:ea typeface="Oswald"/>
                <a:cs typeface="Oswald"/>
                <a:sym typeface="Oswald"/>
              </a:rPr>
              <a:t>Activity 2: </a:t>
            </a:r>
            <a:endParaRPr b="1" sz="2000">
              <a:latin typeface="Oswald"/>
              <a:ea typeface="Oswald"/>
              <a:cs typeface="Oswald"/>
              <a:sym typeface="Oswald"/>
            </a:endParaRPr>
          </a:p>
          <a:p>
            <a:pPr indent="-355600" lvl="0" marL="457200" rtl="0" algn="l">
              <a:spcBef>
                <a:spcPts val="1200"/>
              </a:spcBef>
              <a:spcAft>
                <a:spcPts val="0"/>
              </a:spcAft>
              <a:buSzPts val="2000"/>
              <a:buFont typeface="Oswald ExtraLight"/>
              <a:buChar char="-"/>
            </a:pPr>
            <a:r>
              <a:rPr lang="en" sz="2000">
                <a:latin typeface="Oswald ExtraLight"/>
                <a:ea typeface="Oswald ExtraLight"/>
                <a:cs typeface="Oswald ExtraLight"/>
                <a:sym typeface="Oswald ExtraLight"/>
              </a:rPr>
              <a:t>By using a water level sensor, we can test pollution prevention methods. Two trays are set up, one with vegetation and one without. Students simulate rain and compare how much “polluted” water flows out of each, learning how plants help trap and filter contaminants.</a:t>
            </a:r>
            <a:endParaRPr sz="2000">
              <a:latin typeface="Oswald ExtraLight"/>
              <a:ea typeface="Oswald ExtraLight"/>
              <a:cs typeface="Oswald ExtraLight"/>
              <a:sym typeface="Oswald Extra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latin typeface="Oswald Light"/>
                <a:ea typeface="Oswald Light"/>
                <a:cs typeface="Oswald Light"/>
                <a:sym typeface="Oswald Light"/>
              </a:rPr>
              <a:t>How the Sensor Helps</a:t>
            </a:r>
            <a:endParaRPr sz="3200">
              <a:latin typeface="Oswald Light"/>
              <a:ea typeface="Oswald Light"/>
              <a:cs typeface="Oswald Light"/>
              <a:sym typeface="Oswald Light"/>
            </a:endParaRPr>
          </a:p>
        </p:txBody>
      </p:sp>
      <p:sp>
        <p:nvSpPr>
          <p:cNvPr id="258" name="Google Shape;258;p42"/>
          <p:cNvSpPr txBox="1"/>
          <p:nvPr>
            <p:ph idx="1" type="body"/>
          </p:nvPr>
        </p:nvSpPr>
        <p:spPr>
          <a:xfrm>
            <a:off x="311700" y="1152475"/>
            <a:ext cx="5284500" cy="3894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latin typeface="Oswald ExtraLight"/>
                <a:ea typeface="Oswald ExtraLight"/>
                <a:cs typeface="Oswald ExtraLight"/>
                <a:sym typeface="Oswald ExtraLight"/>
              </a:rPr>
              <a:t>The IO Rodeo water level sensor helps students:</a:t>
            </a:r>
            <a:endParaRPr sz="2000">
              <a:latin typeface="Oswald ExtraLight"/>
              <a:ea typeface="Oswald ExtraLight"/>
              <a:cs typeface="Oswald ExtraLight"/>
              <a:sym typeface="Oswald ExtraLight"/>
            </a:endParaRPr>
          </a:p>
          <a:p>
            <a:pPr indent="-355600" lvl="0" marL="457200" rtl="0" algn="l">
              <a:spcBef>
                <a:spcPts val="1200"/>
              </a:spcBef>
              <a:spcAft>
                <a:spcPts val="0"/>
              </a:spcAft>
              <a:buSzPts val="2000"/>
              <a:buFont typeface="Oswald ExtraLight"/>
              <a:buChar char="-"/>
            </a:pPr>
            <a:r>
              <a:rPr lang="en" sz="2000">
                <a:latin typeface="Oswald ExtraLight"/>
                <a:ea typeface="Oswald ExtraLight"/>
                <a:cs typeface="Oswald ExtraLight"/>
                <a:sym typeface="Oswald ExtraLight"/>
              </a:rPr>
              <a:t>See how water levels change during storms</a:t>
            </a:r>
            <a:br>
              <a:rPr lang="en" sz="2000">
                <a:latin typeface="Oswald ExtraLight"/>
                <a:ea typeface="Oswald ExtraLight"/>
                <a:cs typeface="Oswald ExtraLight"/>
                <a:sym typeface="Oswald ExtraLight"/>
              </a:rPr>
            </a:br>
            <a:endParaRPr sz="2000">
              <a:latin typeface="Oswald ExtraLight"/>
              <a:ea typeface="Oswald ExtraLight"/>
              <a:cs typeface="Oswald ExtraLight"/>
              <a:sym typeface="Oswald ExtraLight"/>
            </a:endParaRPr>
          </a:p>
          <a:p>
            <a:pPr indent="-355600" lvl="0" marL="457200" rtl="0" algn="l">
              <a:spcBef>
                <a:spcPts val="0"/>
              </a:spcBef>
              <a:spcAft>
                <a:spcPts val="0"/>
              </a:spcAft>
              <a:buSzPts val="2000"/>
              <a:buFont typeface="Oswald ExtraLight"/>
              <a:buChar char="-"/>
            </a:pPr>
            <a:r>
              <a:rPr lang="en" sz="2000">
                <a:latin typeface="Oswald ExtraLight"/>
                <a:ea typeface="Oswald ExtraLight"/>
                <a:cs typeface="Oswald ExtraLight"/>
                <a:sym typeface="Oswald ExtraLight"/>
              </a:rPr>
              <a:t>Discover how fast pollution might spread in water</a:t>
            </a:r>
            <a:br>
              <a:rPr lang="en" sz="2000">
                <a:latin typeface="Oswald ExtraLight"/>
                <a:ea typeface="Oswald ExtraLight"/>
                <a:cs typeface="Oswald ExtraLight"/>
                <a:sym typeface="Oswald ExtraLight"/>
              </a:rPr>
            </a:br>
            <a:endParaRPr sz="2000">
              <a:latin typeface="Oswald ExtraLight"/>
              <a:ea typeface="Oswald ExtraLight"/>
              <a:cs typeface="Oswald ExtraLight"/>
              <a:sym typeface="Oswald ExtraLight"/>
            </a:endParaRPr>
          </a:p>
          <a:p>
            <a:pPr indent="-355600" lvl="0" marL="457200" rtl="0" algn="l">
              <a:spcBef>
                <a:spcPts val="0"/>
              </a:spcBef>
              <a:spcAft>
                <a:spcPts val="0"/>
              </a:spcAft>
              <a:buSzPts val="2000"/>
              <a:buFont typeface="Oswald ExtraLight"/>
              <a:buChar char="-"/>
            </a:pPr>
            <a:r>
              <a:rPr lang="en" sz="2000">
                <a:latin typeface="Oswald ExtraLight"/>
                <a:ea typeface="Oswald ExtraLight"/>
                <a:cs typeface="Oswald ExtraLight"/>
                <a:sym typeface="Oswald ExtraLight"/>
              </a:rPr>
              <a:t>Compare clean water vs. polluted water experiments</a:t>
            </a:r>
            <a:br>
              <a:rPr lang="en" sz="2000">
                <a:latin typeface="Oswald ExtraLight"/>
                <a:ea typeface="Oswald ExtraLight"/>
                <a:cs typeface="Oswald ExtraLight"/>
                <a:sym typeface="Oswald ExtraLight"/>
              </a:rPr>
            </a:br>
            <a:endParaRPr sz="2000">
              <a:latin typeface="Oswald ExtraLight"/>
              <a:ea typeface="Oswald ExtraLight"/>
              <a:cs typeface="Oswald ExtraLight"/>
              <a:sym typeface="Oswald ExtraLight"/>
            </a:endParaRPr>
          </a:p>
          <a:p>
            <a:pPr indent="-355600" lvl="0" marL="457200" rtl="0" algn="l">
              <a:spcBef>
                <a:spcPts val="0"/>
              </a:spcBef>
              <a:spcAft>
                <a:spcPts val="0"/>
              </a:spcAft>
              <a:buSzPts val="2000"/>
              <a:buFont typeface="Oswald ExtraLight"/>
              <a:buChar char="-"/>
            </a:pPr>
            <a:r>
              <a:rPr lang="en" sz="2000">
                <a:latin typeface="Oswald ExtraLight"/>
                <a:ea typeface="Oswald ExtraLight"/>
                <a:cs typeface="Oswald ExtraLight"/>
                <a:sym typeface="Oswald ExtraLight"/>
              </a:rPr>
              <a:t>Learn how cities can manage stormwater to protect rivers</a:t>
            </a:r>
            <a:endParaRPr/>
          </a:p>
        </p:txBody>
      </p:sp>
      <p:pic>
        <p:nvPicPr>
          <p:cNvPr id="259" name="Google Shape;259;p42"/>
          <p:cNvPicPr preferRelativeResize="0"/>
          <p:nvPr/>
        </p:nvPicPr>
        <p:blipFill>
          <a:blip r:embed="rId3">
            <a:alphaModFix/>
          </a:blip>
          <a:stretch>
            <a:fillRect/>
          </a:stretch>
        </p:blipFill>
        <p:spPr>
          <a:xfrm>
            <a:off x="5658900" y="1170125"/>
            <a:ext cx="3332700" cy="328826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