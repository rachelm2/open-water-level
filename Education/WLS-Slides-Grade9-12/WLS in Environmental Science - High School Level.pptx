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Oswald ExtraLight"/>
      <p:regular r:id="rId44"/>
      <p:bold r:id="rId45"/>
    </p:embeddedFont>
    <p:embeddedFont>
      <p:font typeface="Oswald Light"/>
      <p:regular r:id="rId46"/>
      <p:bold r:id="rId47"/>
    </p:embeddedFont>
    <p:embeddedFont>
      <p:font typeface="Oswald"/>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OswaldExtraLight-regular.fntdata"/><Relationship Id="rId43" Type="http://schemas.openxmlformats.org/officeDocument/2006/relationships/slide" Target="slides/slide37.xml"/><Relationship Id="rId46" Type="http://schemas.openxmlformats.org/officeDocument/2006/relationships/font" Target="fonts/OswaldLight-regular.fntdata"/><Relationship Id="rId45" Type="http://schemas.openxmlformats.org/officeDocument/2006/relationships/font" Target="fonts/OswaldExtra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Oswald-regular.fntdata"/><Relationship Id="rId47" Type="http://schemas.openxmlformats.org/officeDocument/2006/relationships/font" Target="fonts/OswaldLight-bold.fntdata"/><Relationship Id="rId49" Type="http://schemas.openxmlformats.org/officeDocument/2006/relationships/font" Target="fonts/Oswa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6ebc94144_0_1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6ebc94144_0_1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6ebc941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6ebc941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6ebc9414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6ebc9414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6ebc9414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76ebc9414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6ebc9414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76ebc9414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6ebc94144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6ebc94144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6ebc94144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6ebc94144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6ebc94144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76ebc94144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6ebc94144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6ebc94144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6ebc94144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6ebc94144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6ebc94144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76ebc94144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6ebc94144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6ebc94144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76ebc94144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76ebc94144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6ebc94144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76ebc94144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76ebc94144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76ebc94144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76ebc94144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76ebc94144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6ebc94144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76ebc94144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6ebc94144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6ebc94144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6ebc94144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76ebc94144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6ebc94144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76ebc94144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6ebc94144_0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76ebc94144_0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6ebc94144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6ebc94144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6ebc94144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76ebc94144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76ebc94144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76ebc94144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6ebc94144_0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76ebc94144_0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6ebc94144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6ebc94144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6ebc94144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76ebc94144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76ebc94144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76ebc94144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76ebc94144_0_1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76ebc94144_0_1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6ebc94144_0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6ebc94144_0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76ebc94144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76ebc94144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76ebc94144_0_1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76ebc94144_0_1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76ebc94144_0_1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76ebc94144_0_1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76ebc94144_0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76ebc94144_0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76ebc94144_0_1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76ebc94144_0_1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76ebc94144_0_1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76ebc94144_0_1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76ebc94144_0_1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76ebc94144_0_1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BCEAB2">
            <a:alpha val="88680"/>
          </a:srgbClr>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16.jpg"/><Relationship Id="rId5"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7.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jpg"/><Relationship Id="rId4"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jpg"/><Relationship Id="rId4" Type="http://schemas.openxmlformats.org/officeDocument/2006/relationships/image" Target="../media/image2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1545450"/>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1C4587"/>
                </a:solidFill>
                <a:latin typeface="Oswald Light"/>
                <a:ea typeface="Oswald Light"/>
                <a:cs typeface="Oswald Light"/>
                <a:sym typeface="Oswald Light"/>
              </a:rPr>
              <a:t>Water Level Sensors</a:t>
            </a:r>
            <a:endParaRPr>
              <a:solidFill>
                <a:srgbClr val="1C4587"/>
              </a:solidFill>
              <a:latin typeface="Oswald Light"/>
              <a:ea typeface="Oswald Light"/>
              <a:cs typeface="Oswald Light"/>
              <a:sym typeface="Oswald Light"/>
            </a:endParaRPr>
          </a:p>
          <a:p>
            <a:pPr indent="0" lvl="0" marL="0" rtl="0" algn="ctr">
              <a:spcBef>
                <a:spcPts val="0"/>
              </a:spcBef>
              <a:spcAft>
                <a:spcPts val="0"/>
              </a:spcAft>
              <a:buNone/>
            </a:pPr>
            <a:r>
              <a:rPr lang="en">
                <a:solidFill>
                  <a:srgbClr val="1C4587"/>
                </a:solidFill>
                <a:latin typeface="Oswald Light"/>
                <a:ea typeface="Oswald Light"/>
                <a:cs typeface="Oswald Light"/>
                <a:sym typeface="Oswald Light"/>
              </a:rPr>
              <a:t>in Environmental Science</a:t>
            </a:r>
            <a:endParaRPr>
              <a:solidFill>
                <a:srgbClr val="1C4587"/>
              </a:solidFill>
              <a:latin typeface="Oswald Light"/>
              <a:ea typeface="Oswald Light"/>
              <a:cs typeface="Oswald Light"/>
              <a:sym typeface="Oswal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03" name="Shape 103"/>
        <p:cNvGrpSpPr/>
        <p:nvPr/>
      </p:nvGrpSpPr>
      <p:grpSpPr>
        <a:xfrm>
          <a:off x="0" y="0"/>
          <a:ext cx="0" cy="0"/>
          <a:chOff x="0" y="0"/>
          <a:chExt cx="0" cy="0"/>
        </a:xfrm>
      </p:grpSpPr>
      <p:sp>
        <p:nvSpPr>
          <p:cNvPr id="104" name="Google Shape;104;p26"/>
          <p:cNvSpPr txBox="1"/>
          <p:nvPr>
            <p:ph type="title"/>
          </p:nvPr>
        </p:nvSpPr>
        <p:spPr>
          <a:xfrm>
            <a:off x="597000" y="936400"/>
            <a:ext cx="7950000" cy="1937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Rainfall vs Water Level Correlation (Hydrology) with a Water Level Sensor</a:t>
            </a:r>
            <a:endParaRPr sz="5200">
              <a:solidFill>
                <a:srgbClr val="1C4587"/>
              </a:solidFill>
              <a:latin typeface="Oswald Light"/>
              <a:ea typeface="Oswald Light"/>
              <a:cs typeface="Oswald Light"/>
              <a:sym typeface="Oswald Light"/>
            </a:endParaRPr>
          </a:p>
        </p:txBody>
      </p:sp>
      <p:sp>
        <p:nvSpPr>
          <p:cNvPr id="105" name="Google Shape;105;p26"/>
          <p:cNvSpPr txBox="1"/>
          <p:nvPr/>
        </p:nvSpPr>
        <p:spPr>
          <a:xfrm>
            <a:off x="2208300" y="313640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09" name="Shape 109"/>
        <p:cNvGrpSpPr/>
        <p:nvPr/>
      </p:nvGrpSpPr>
      <p:grpSpPr>
        <a:xfrm>
          <a:off x="0" y="0"/>
          <a:ext cx="0" cy="0"/>
          <a:chOff x="0" y="0"/>
          <a:chExt cx="0" cy="0"/>
        </a:xfrm>
      </p:grpSpPr>
      <p:sp>
        <p:nvSpPr>
          <p:cNvPr id="110" name="Google Shape;11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Hydrology?</a:t>
            </a:r>
            <a:endParaRPr sz="3211">
              <a:solidFill>
                <a:srgbClr val="1C4587"/>
              </a:solidFill>
              <a:latin typeface="Oswald Light"/>
              <a:ea typeface="Oswald Light"/>
              <a:cs typeface="Oswald Light"/>
              <a:sym typeface="Oswald Light"/>
            </a:endParaRPr>
          </a:p>
        </p:txBody>
      </p:sp>
      <p:sp>
        <p:nvSpPr>
          <p:cNvPr id="111" name="Google Shape;111;p2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Hydrology is the study of water on Earth. Hydrologist studies the way water is distributed, the quality, and the way it moves on and below Earth's surface, as well as in the atmosphere. They study how the water moves through bodies of water and into different types of reservoirs. For example, watersheds and aquifers. Hydrologist also studies the impact humans have on these processes. </a:t>
            </a:r>
            <a:endParaRPr sz="2000">
              <a:solidFill>
                <a:srgbClr val="3D85C6"/>
              </a:solidFill>
              <a:latin typeface="Oswald ExtraLight"/>
              <a:ea typeface="Oswald ExtraLight"/>
              <a:cs typeface="Oswald ExtraLight"/>
              <a:sym typeface="Oswald ExtraLight"/>
            </a:endParaRPr>
          </a:p>
        </p:txBody>
      </p:sp>
      <p:pic>
        <p:nvPicPr>
          <p:cNvPr descr="a diagram of the hydrological cycle showing water evaporation and runoff (Provided by Tenor)" id="112" name="Google Shape;112;p27"/>
          <p:cNvPicPr preferRelativeResize="0"/>
          <p:nvPr/>
        </p:nvPicPr>
        <p:blipFill>
          <a:blip r:embed="rId3">
            <a:alphaModFix/>
          </a:blip>
          <a:stretch>
            <a:fillRect/>
          </a:stretch>
        </p:blipFill>
        <p:spPr>
          <a:xfrm>
            <a:off x="4933775" y="875875"/>
            <a:ext cx="3797957" cy="3820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16" name="Shape 116"/>
        <p:cNvGrpSpPr/>
        <p:nvPr/>
      </p:nvGrpSpPr>
      <p:grpSpPr>
        <a:xfrm>
          <a:off x="0" y="0"/>
          <a:ext cx="0" cy="0"/>
          <a:chOff x="0" y="0"/>
          <a:chExt cx="0" cy="0"/>
        </a:xfrm>
      </p:grpSpPr>
      <p:sp>
        <p:nvSpPr>
          <p:cNvPr id="117" name="Google Shape;117;p28"/>
          <p:cNvSpPr txBox="1"/>
          <p:nvPr>
            <p:ph type="title"/>
          </p:nvPr>
        </p:nvSpPr>
        <p:spPr>
          <a:xfrm>
            <a:off x="1954950" y="417600"/>
            <a:ext cx="523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are Watersheds and Aquifers?</a:t>
            </a:r>
            <a:endParaRPr sz="3211">
              <a:solidFill>
                <a:srgbClr val="1C4587"/>
              </a:solidFill>
              <a:latin typeface="Oswald Light"/>
              <a:ea typeface="Oswald Light"/>
              <a:cs typeface="Oswald Light"/>
              <a:sym typeface="Oswald Light"/>
            </a:endParaRPr>
          </a:p>
        </p:txBody>
      </p:sp>
      <p:sp>
        <p:nvSpPr>
          <p:cNvPr id="118" name="Google Shape;118;p2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Watersheds are an area where all forms of precipitation drain to. It is typically connected by a system of streams and channels to connect to one body of water. People rely on watersheds to provide clean drinking water. </a:t>
            </a:r>
            <a:endParaRPr sz="2000">
              <a:solidFill>
                <a:srgbClr val="3D85C6"/>
              </a:solidFill>
              <a:latin typeface="Oswald ExtraLight"/>
              <a:ea typeface="Oswald ExtraLight"/>
              <a:cs typeface="Oswald ExtraLight"/>
              <a:sym typeface="Oswald ExtraLight"/>
            </a:endParaRPr>
          </a:p>
        </p:txBody>
      </p:sp>
      <p:sp>
        <p:nvSpPr>
          <p:cNvPr id="119" name="Google Shape;119;p28"/>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An aquifer is a saturated body of rock or sediment that helps transport groundwater to wells and springs. Aquifers are also very important to humans because they provide clean drinking water as well. </a:t>
            </a:r>
            <a:endParaRPr sz="2000">
              <a:solidFill>
                <a:srgbClr val="3D85C6"/>
              </a:solidFill>
              <a:latin typeface="Oswald ExtraLight"/>
              <a:ea typeface="Oswald ExtraLight"/>
              <a:cs typeface="Oswald ExtraLight"/>
              <a:sym typeface="Oswald ExtraLight"/>
            </a:endParaRPr>
          </a:p>
        </p:txBody>
      </p:sp>
      <p:pic>
        <p:nvPicPr>
          <p:cNvPr id="120" name="Google Shape;120;p28"/>
          <p:cNvPicPr preferRelativeResize="0"/>
          <p:nvPr/>
        </p:nvPicPr>
        <p:blipFill>
          <a:blip r:embed="rId3">
            <a:alphaModFix/>
          </a:blip>
          <a:stretch>
            <a:fillRect/>
          </a:stretch>
        </p:blipFill>
        <p:spPr>
          <a:xfrm>
            <a:off x="1262602" y="3071250"/>
            <a:ext cx="2358500" cy="1911675"/>
          </a:xfrm>
          <a:prstGeom prst="rect">
            <a:avLst/>
          </a:prstGeom>
          <a:noFill/>
          <a:ln>
            <a:noFill/>
          </a:ln>
        </p:spPr>
      </p:pic>
      <p:pic>
        <p:nvPicPr>
          <p:cNvPr descr="Aquifer as confined underground water layers in geological outline diagram (Provided by Getty Images)" id="121" name="Google Shape;121;p28"/>
          <p:cNvPicPr preferRelativeResize="0"/>
          <p:nvPr/>
        </p:nvPicPr>
        <p:blipFill rotWithShape="1">
          <a:blip r:embed="rId4">
            <a:alphaModFix/>
          </a:blip>
          <a:srcRect b="0" l="0" r="0" t="13569"/>
          <a:stretch/>
        </p:blipFill>
        <p:spPr>
          <a:xfrm>
            <a:off x="5421087" y="3071250"/>
            <a:ext cx="2562135" cy="191167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25" name="Shape 125"/>
        <p:cNvGrpSpPr/>
        <p:nvPr/>
      </p:nvGrpSpPr>
      <p:grpSpPr>
        <a:xfrm>
          <a:off x="0" y="0"/>
          <a:ext cx="0" cy="0"/>
          <a:chOff x="0" y="0"/>
          <a:chExt cx="0" cy="0"/>
        </a:xfrm>
      </p:grpSpPr>
      <p:sp>
        <p:nvSpPr>
          <p:cNvPr id="126" name="Google Shape;126;p29"/>
          <p:cNvSpPr txBox="1"/>
          <p:nvPr>
            <p:ph type="title"/>
          </p:nvPr>
        </p:nvSpPr>
        <p:spPr>
          <a:xfrm>
            <a:off x="311700" y="445025"/>
            <a:ext cx="8520600" cy="11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Measure Rainfall and Water Level in a Classroom?</a:t>
            </a:r>
            <a:endParaRPr sz="3211">
              <a:solidFill>
                <a:srgbClr val="1C4587"/>
              </a:solidFill>
              <a:latin typeface="Oswald Light"/>
              <a:ea typeface="Oswald Light"/>
              <a:cs typeface="Oswald Light"/>
              <a:sym typeface="Oswald Light"/>
            </a:endParaRPr>
          </a:p>
        </p:txBody>
      </p:sp>
      <p:sp>
        <p:nvSpPr>
          <p:cNvPr id="127" name="Google Shape;127;p29"/>
          <p:cNvSpPr txBox="1"/>
          <p:nvPr>
            <p:ph idx="1" type="body"/>
          </p:nvPr>
        </p:nvSpPr>
        <p:spPr>
          <a:xfrm>
            <a:off x="311700" y="1586475"/>
            <a:ext cx="8520600" cy="298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build a mini watershed model with soil, gravel, and a hidden container acting as an aquifer. The IO Rodeo water level sensor is placed in the “lake” or aquifer to measure how rainfall (simulated with watering cans) affects water storage. They compare how vegetation, slope, and rainfall intensity change runoff speed and aquifer recharge. By graphing rainfall amounts vs. water level changes, students learn how watersheds collect rain and how aquifers store and release water over time.</a:t>
            </a:r>
            <a:endParaRPr sz="2000">
              <a:solidFill>
                <a:srgbClr val="3D85C6"/>
              </a:solidFill>
              <a:latin typeface="Oswald ExtraLight"/>
              <a:ea typeface="Oswald ExtraLight"/>
              <a:cs typeface="Oswald ExtraLight"/>
              <a:sym typeface="Oswald ExtraLight"/>
            </a:endParaRPr>
          </a:p>
        </p:txBody>
      </p:sp>
      <p:pic>
        <p:nvPicPr>
          <p:cNvPr id="128" name="Google Shape;128;p29"/>
          <p:cNvPicPr preferRelativeResize="0"/>
          <p:nvPr/>
        </p:nvPicPr>
        <p:blipFill rotWithShape="1">
          <a:blip r:embed="rId3">
            <a:alphaModFix/>
          </a:blip>
          <a:srcRect b="37145" l="0" r="0" t="44203"/>
          <a:stretch/>
        </p:blipFill>
        <p:spPr>
          <a:xfrm>
            <a:off x="0" y="4568775"/>
            <a:ext cx="9144001" cy="574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32" name="Shape 132"/>
        <p:cNvGrpSpPr/>
        <p:nvPr/>
      </p:nvGrpSpPr>
      <p:grpSpPr>
        <a:xfrm>
          <a:off x="0" y="0"/>
          <a:ext cx="0" cy="0"/>
          <a:chOff x="0" y="0"/>
          <a:chExt cx="0" cy="0"/>
        </a:xfrm>
      </p:grpSpPr>
      <p:sp>
        <p:nvSpPr>
          <p:cNvPr id="133" name="Google Shape;13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134" name="Google Shape;134;p30"/>
          <p:cNvSpPr txBox="1"/>
          <p:nvPr>
            <p:ph idx="1" type="body"/>
          </p:nvPr>
        </p:nvSpPr>
        <p:spPr>
          <a:xfrm>
            <a:off x="311700" y="1152475"/>
            <a:ext cx="5234100" cy="38220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Measure how water levels change after rain</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Compare rainfall amounts to water height in rivers or tanks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Analyze how surfaces (like pavement vs. grass) affect runoff</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data for graphs, scatterplots, and statistical analysis</a:t>
            </a:r>
            <a:endParaRPr sz="2000">
              <a:solidFill>
                <a:srgbClr val="3D85C6"/>
              </a:solidFill>
              <a:latin typeface="Oswald ExtraLight"/>
              <a:ea typeface="Oswald ExtraLight"/>
              <a:cs typeface="Oswald ExtraLight"/>
              <a:sym typeface="Oswald ExtraLight"/>
            </a:endParaRPr>
          </a:p>
        </p:txBody>
      </p:sp>
      <p:pic>
        <p:nvPicPr>
          <p:cNvPr id="135" name="Google Shape;135;p30"/>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39" name="Shape 139"/>
        <p:cNvGrpSpPr/>
        <p:nvPr/>
      </p:nvGrpSpPr>
      <p:grpSpPr>
        <a:xfrm>
          <a:off x="0" y="0"/>
          <a:ext cx="0" cy="0"/>
          <a:chOff x="0" y="0"/>
          <a:chExt cx="0" cy="0"/>
        </a:xfrm>
      </p:grpSpPr>
      <p:sp>
        <p:nvSpPr>
          <p:cNvPr id="140" name="Google Shape;140;p31"/>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Wetlands with a Water Level Sensor</a:t>
            </a:r>
            <a:endParaRPr sz="5200">
              <a:solidFill>
                <a:srgbClr val="1C4587"/>
              </a:solidFill>
              <a:latin typeface="Oswald Light"/>
              <a:ea typeface="Oswald Light"/>
              <a:cs typeface="Oswald Light"/>
              <a:sym typeface="Oswald Light"/>
            </a:endParaRPr>
          </a:p>
        </p:txBody>
      </p:sp>
      <p:sp>
        <p:nvSpPr>
          <p:cNvPr id="141" name="Google Shape;141;p31"/>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45" name="Shape 145"/>
        <p:cNvGrpSpPr/>
        <p:nvPr/>
      </p:nvGrpSpPr>
      <p:grpSpPr>
        <a:xfrm>
          <a:off x="0" y="0"/>
          <a:ext cx="0" cy="0"/>
          <a:chOff x="0" y="0"/>
          <a:chExt cx="0" cy="0"/>
        </a:xfrm>
      </p:grpSpPr>
      <p:sp>
        <p:nvSpPr>
          <p:cNvPr id="146" name="Google Shape;146;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are Wetlands?</a:t>
            </a:r>
            <a:endParaRPr sz="3211">
              <a:solidFill>
                <a:srgbClr val="1C4587"/>
              </a:solidFill>
              <a:latin typeface="Oswald Light"/>
              <a:ea typeface="Oswald Light"/>
              <a:cs typeface="Oswald Light"/>
              <a:sym typeface="Oswald Light"/>
            </a:endParaRPr>
          </a:p>
        </p:txBody>
      </p:sp>
      <p:sp>
        <p:nvSpPr>
          <p:cNvPr id="147" name="Google Shape;147;p32"/>
          <p:cNvSpPr txBox="1"/>
          <p:nvPr>
            <p:ph idx="1" type="body"/>
          </p:nvPr>
        </p:nvSpPr>
        <p:spPr>
          <a:xfrm>
            <a:off x="311700" y="1152475"/>
            <a:ext cx="5014800" cy="3759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000">
                <a:solidFill>
                  <a:srgbClr val="3D85C6"/>
                </a:solidFill>
                <a:latin typeface="Oswald ExtraLight"/>
                <a:ea typeface="Oswald ExtraLight"/>
                <a:cs typeface="Oswald ExtraLight"/>
                <a:sym typeface="Oswald ExtraLight"/>
              </a:rPr>
              <a:t>Wetlands are areas of land that water covers. This can either be permanent or for a year. They are classified as being an in between point of fully aquatic and fully terrestrial. Some examples being, swamps, bogs, and floodplains. </a:t>
            </a:r>
            <a:endParaRPr sz="2000">
              <a:solidFill>
                <a:srgbClr val="3D85C6"/>
              </a:solidFill>
              <a:latin typeface="Oswald ExtraLight"/>
              <a:ea typeface="Oswald ExtraLight"/>
              <a:cs typeface="Oswald ExtraLight"/>
              <a:sym typeface="Oswald ExtraLight"/>
            </a:endParaRPr>
          </a:p>
          <a:p>
            <a:pPr indent="0" lvl="0" marL="0" rtl="0" algn="l">
              <a:spcBef>
                <a:spcPts val="1200"/>
              </a:spcBef>
              <a:spcAft>
                <a:spcPts val="1200"/>
              </a:spcAft>
              <a:buNone/>
            </a:pPr>
            <a:r>
              <a:rPr lang="en" sz="2000">
                <a:solidFill>
                  <a:srgbClr val="3D85C6"/>
                </a:solidFill>
                <a:latin typeface="Oswald ExtraLight"/>
                <a:ea typeface="Oswald ExtraLight"/>
                <a:cs typeface="Oswald ExtraLight"/>
                <a:sym typeface="Oswald ExtraLight"/>
              </a:rPr>
              <a:t>Wetlands are crucial for decreasing the impact on communities from floods, providing habitats for unique plants and animals, and they act as a filter for water. They also help in climate protection by storing large amounts of carbon in plants and soil. </a:t>
            </a:r>
            <a:endParaRPr sz="2000">
              <a:solidFill>
                <a:srgbClr val="3D85C6"/>
              </a:solidFill>
              <a:latin typeface="Oswald ExtraLight"/>
              <a:ea typeface="Oswald ExtraLight"/>
              <a:cs typeface="Oswald ExtraLight"/>
              <a:sym typeface="Oswald ExtraLight"/>
            </a:endParaRPr>
          </a:p>
        </p:txBody>
      </p:sp>
      <p:pic>
        <p:nvPicPr>
          <p:cNvPr descr="Louisiana Swamp and Cypress Trees at Cypress Island Preserve (Provided by Getty Images)" id="148" name="Google Shape;148;p32"/>
          <p:cNvPicPr preferRelativeResize="0"/>
          <p:nvPr/>
        </p:nvPicPr>
        <p:blipFill>
          <a:blip r:embed="rId3">
            <a:alphaModFix/>
          </a:blip>
          <a:stretch>
            <a:fillRect/>
          </a:stretch>
        </p:blipFill>
        <p:spPr>
          <a:xfrm>
            <a:off x="5326500" y="224850"/>
            <a:ext cx="3565174" cy="2003675"/>
          </a:xfrm>
          <a:prstGeom prst="rect">
            <a:avLst/>
          </a:prstGeom>
          <a:noFill/>
          <a:ln>
            <a:noFill/>
          </a:ln>
        </p:spPr>
      </p:pic>
      <p:pic>
        <p:nvPicPr>
          <p:cNvPr descr="Vecht river high water level flooding at the Vechterweerd weir drone view (Provided by Getty Images)" id="149" name="Google Shape;149;p32"/>
          <p:cNvPicPr preferRelativeResize="0"/>
          <p:nvPr/>
        </p:nvPicPr>
        <p:blipFill>
          <a:blip r:embed="rId4">
            <a:alphaModFix/>
          </a:blip>
          <a:stretch>
            <a:fillRect/>
          </a:stretch>
        </p:blipFill>
        <p:spPr>
          <a:xfrm>
            <a:off x="5326500" y="2384917"/>
            <a:ext cx="3565174" cy="266865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53" name="Shape 153"/>
        <p:cNvGrpSpPr/>
        <p:nvPr/>
      </p:nvGrpSpPr>
      <p:grpSpPr>
        <a:xfrm>
          <a:off x="0" y="0"/>
          <a:ext cx="0" cy="0"/>
          <a:chOff x="0" y="0"/>
          <a:chExt cx="0" cy="0"/>
        </a:xfrm>
      </p:grpSpPr>
      <p:sp>
        <p:nvSpPr>
          <p:cNvPr id="154" name="Google Shape;154;p33"/>
          <p:cNvSpPr txBox="1"/>
          <p:nvPr>
            <p:ph type="title"/>
          </p:nvPr>
        </p:nvSpPr>
        <p:spPr>
          <a:xfrm>
            <a:off x="265800" y="324775"/>
            <a:ext cx="8612400" cy="94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Measure Changes of a Wetland in a Classroom?</a:t>
            </a:r>
            <a:endParaRPr sz="3211">
              <a:solidFill>
                <a:srgbClr val="1C4587"/>
              </a:solidFill>
              <a:latin typeface="Oswald Light"/>
              <a:ea typeface="Oswald Light"/>
              <a:cs typeface="Oswald Light"/>
              <a:sym typeface="Oswald Light"/>
            </a:endParaRPr>
          </a:p>
        </p:txBody>
      </p:sp>
      <p:sp>
        <p:nvSpPr>
          <p:cNvPr id="155" name="Google Shape;155;p33"/>
          <p:cNvSpPr txBox="1"/>
          <p:nvPr>
            <p:ph idx="1" type="body"/>
          </p:nvPr>
        </p:nvSpPr>
        <p:spPr>
          <a:xfrm>
            <a:off x="311700" y="1271875"/>
            <a:ext cx="5464500" cy="387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create two models — one with wetland features (gravel, soil, plants) and one without. The IO Rodeo water level sensor is placed in each model’s “pond” area to measure water levels during simulated rainfall. Students compare how much water each model stores, how quickly it drains, and how well vegetation traps “pollutants” like colored water. By graphing their results, they see how wetlands reduce flooding, filter water, and support healthy ecosystems.</a:t>
            </a:r>
            <a:endParaRPr sz="2000">
              <a:solidFill>
                <a:srgbClr val="3D85C6"/>
              </a:solidFill>
              <a:latin typeface="Oswald ExtraLight"/>
              <a:ea typeface="Oswald ExtraLight"/>
              <a:cs typeface="Oswald ExtraLight"/>
              <a:sym typeface="Oswald ExtraLight"/>
            </a:endParaRPr>
          </a:p>
        </p:txBody>
      </p:sp>
      <p:pic>
        <p:nvPicPr>
          <p:cNvPr id="156" name="Google Shape;156;p33"/>
          <p:cNvPicPr preferRelativeResize="0"/>
          <p:nvPr/>
        </p:nvPicPr>
        <p:blipFill rotWithShape="1">
          <a:blip r:embed="rId3">
            <a:alphaModFix/>
          </a:blip>
          <a:srcRect b="0" l="23130" r="0" t="0"/>
          <a:stretch/>
        </p:blipFill>
        <p:spPr>
          <a:xfrm>
            <a:off x="5961025" y="2123925"/>
            <a:ext cx="2963076" cy="2023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60" name="Shape 160"/>
        <p:cNvGrpSpPr/>
        <p:nvPr/>
      </p:nvGrpSpPr>
      <p:grpSpPr>
        <a:xfrm>
          <a:off x="0" y="0"/>
          <a:ext cx="0" cy="0"/>
          <a:chOff x="0" y="0"/>
          <a:chExt cx="0" cy="0"/>
        </a:xfrm>
      </p:grpSpPr>
      <p:sp>
        <p:nvSpPr>
          <p:cNvPr id="161" name="Google Shape;16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162" name="Google Shape;162;p34"/>
          <p:cNvSpPr txBox="1"/>
          <p:nvPr>
            <p:ph idx="1" type="body"/>
          </p:nvPr>
        </p:nvSpPr>
        <p:spPr>
          <a:xfrm>
            <a:off x="311700" y="1152475"/>
            <a:ext cx="5234100" cy="3822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Measure how much water wetlands can hold during storms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Study how water levels rise and fall in wetland models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See how wetlands slow floodwaters and prevent erosion</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Gather data to analyze wetland health and biodiversity</a:t>
            </a:r>
            <a:endParaRPr sz="2000">
              <a:solidFill>
                <a:srgbClr val="3D85C6"/>
              </a:solidFill>
              <a:latin typeface="Oswald ExtraLight"/>
              <a:ea typeface="Oswald ExtraLight"/>
              <a:cs typeface="Oswald ExtraLight"/>
              <a:sym typeface="Oswald ExtraLight"/>
            </a:endParaRPr>
          </a:p>
        </p:txBody>
      </p:sp>
      <p:pic>
        <p:nvPicPr>
          <p:cNvPr id="163" name="Google Shape;163;p34"/>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67" name="Shape 167"/>
        <p:cNvGrpSpPr/>
        <p:nvPr/>
      </p:nvGrpSpPr>
      <p:grpSpPr>
        <a:xfrm>
          <a:off x="0" y="0"/>
          <a:ext cx="0" cy="0"/>
          <a:chOff x="0" y="0"/>
          <a:chExt cx="0" cy="0"/>
        </a:xfrm>
      </p:grpSpPr>
      <p:sp>
        <p:nvSpPr>
          <p:cNvPr id="168" name="Google Shape;168;p35"/>
          <p:cNvSpPr txBox="1"/>
          <p:nvPr>
            <p:ph type="title"/>
          </p:nvPr>
        </p:nvSpPr>
        <p:spPr>
          <a:xfrm>
            <a:off x="597000" y="936400"/>
            <a:ext cx="7950000" cy="1937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Water Conservation with a Water Level Sensor</a:t>
            </a:r>
            <a:endParaRPr sz="5200">
              <a:solidFill>
                <a:srgbClr val="1C4587"/>
              </a:solidFill>
              <a:latin typeface="Oswald Light"/>
              <a:ea typeface="Oswald Light"/>
              <a:cs typeface="Oswald Light"/>
              <a:sym typeface="Oswald Light"/>
            </a:endParaRPr>
          </a:p>
        </p:txBody>
      </p:sp>
      <p:sp>
        <p:nvSpPr>
          <p:cNvPr id="169" name="Google Shape;169;p35"/>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73" name="Shape 173"/>
        <p:cNvGrpSpPr/>
        <p:nvPr/>
      </p:nvGrpSpPr>
      <p:grpSpPr>
        <a:xfrm>
          <a:off x="0" y="0"/>
          <a:ext cx="0" cy="0"/>
          <a:chOff x="0" y="0"/>
          <a:chExt cx="0" cy="0"/>
        </a:xfrm>
      </p:grpSpPr>
      <p:sp>
        <p:nvSpPr>
          <p:cNvPr id="174" name="Google Shape;174;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Water Conservation?</a:t>
            </a:r>
            <a:endParaRPr sz="3211">
              <a:solidFill>
                <a:srgbClr val="1C4587"/>
              </a:solidFill>
              <a:latin typeface="Oswald Light"/>
              <a:ea typeface="Oswald Light"/>
              <a:cs typeface="Oswald Light"/>
              <a:sym typeface="Oswald Light"/>
            </a:endParaRPr>
          </a:p>
        </p:txBody>
      </p:sp>
      <p:sp>
        <p:nvSpPr>
          <p:cNvPr id="175" name="Google Shape;175;p36"/>
          <p:cNvSpPr txBox="1"/>
          <p:nvPr>
            <p:ph idx="1" type="body"/>
          </p:nvPr>
        </p:nvSpPr>
        <p:spPr>
          <a:xfrm>
            <a:off x="311700" y="1152475"/>
            <a:ext cx="5269800" cy="377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Water conservation is the practice of being mindful about how much water you use and trying to use less to help reduce water waste. This matters because less than 1% of Earth’s water is fresh and easily available for people to use. Conserving water also helps keep bodies of water like rivers, lakes, and wetlands healthy. Lastly, the process it takes to treat and pump water uses a lot of energy, which burns a lot of carbon emissions. So by saving and conserving water helps reduce the amount of carbon emissions which helps reduce the impacts of climate change. </a:t>
            </a:r>
            <a:endParaRPr sz="2000">
              <a:solidFill>
                <a:srgbClr val="3D85C6"/>
              </a:solidFill>
              <a:latin typeface="Oswald ExtraLight"/>
              <a:ea typeface="Oswald ExtraLight"/>
              <a:cs typeface="Oswald ExtraLight"/>
              <a:sym typeface="Oswald ExtraLight"/>
            </a:endParaRPr>
          </a:p>
        </p:txBody>
      </p:sp>
      <p:pic>
        <p:nvPicPr>
          <p:cNvPr id="176" name="Google Shape;176;p36" title="download.jpg"/>
          <p:cNvPicPr preferRelativeResize="0"/>
          <p:nvPr/>
        </p:nvPicPr>
        <p:blipFill>
          <a:blip r:embed="rId3">
            <a:alphaModFix/>
          </a:blip>
          <a:stretch>
            <a:fillRect/>
          </a:stretch>
        </p:blipFill>
        <p:spPr>
          <a:xfrm>
            <a:off x="6036175" y="1402675"/>
            <a:ext cx="2796125" cy="2796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80" name="Shape 180"/>
        <p:cNvGrpSpPr/>
        <p:nvPr/>
      </p:nvGrpSpPr>
      <p:grpSpPr>
        <a:xfrm>
          <a:off x="0" y="0"/>
          <a:ext cx="0" cy="0"/>
          <a:chOff x="0" y="0"/>
          <a:chExt cx="0" cy="0"/>
        </a:xfrm>
      </p:grpSpPr>
      <p:sp>
        <p:nvSpPr>
          <p:cNvPr id="181" name="Google Shape;181;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Conserve Water at Home?</a:t>
            </a:r>
            <a:endParaRPr sz="3211">
              <a:solidFill>
                <a:srgbClr val="1C4587"/>
              </a:solidFill>
              <a:latin typeface="Oswald Light"/>
              <a:ea typeface="Oswald Light"/>
              <a:cs typeface="Oswald Light"/>
              <a:sym typeface="Oswald Light"/>
            </a:endParaRPr>
          </a:p>
        </p:txBody>
      </p:sp>
      <p:sp>
        <p:nvSpPr>
          <p:cNvPr id="182" name="Google Shape;182;p37"/>
          <p:cNvSpPr txBox="1"/>
          <p:nvPr>
            <p:ph idx="1" type="body"/>
          </p:nvPr>
        </p:nvSpPr>
        <p:spPr>
          <a:xfrm>
            <a:off x="311700" y="1209200"/>
            <a:ext cx="5734200" cy="373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rgbClr val="3D85C6"/>
                </a:solidFill>
                <a:latin typeface="Oswald ExtraLight"/>
                <a:ea typeface="Oswald ExtraLight"/>
                <a:cs typeface="Oswald ExtraLight"/>
                <a:sym typeface="Oswald ExtraLight"/>
              </a:rPr>
              <a:t>Ways to conserve water at home can include:</a:t>
            </a:r>
            <a:endParaRPr sz="2000">
              <a:solidFill>
                <a:srgbClr val="3D85C6"/>
              </a:solidFill>
              <a:latin typeface="Oswald ExtraLight"/>
              <a:ea typeface="Oswald ExtraLight"/>
              <a:cs typeface="Oswald ExtraLight"/>
              <a:sym typeface="Oswald ExtraLight"/>
            </a:endParaRPr>
          </a:p>
          <a:p>
            <a:pPr indent="0" lvl="0" marL="0" rtl="0" algn="l">
              <a:spcBef>
                <a:spcPts val="1200"/>
              </a:spcBef>
              <a:spcAft>
                <a:spcPts val="0"/>
              </a:spcAft>
              <a:buNone/>
            </a:pPr>
            <a:r>
              <a:t/>
            </a:r>
            <a:endParaRPr sz="800">
              <a:solidFill>
                <a:srgbClr val="3D85C6"/>
              </a:solidFill>
              <a:latin typeface="Oswald ExtraLight"/>
              <a:ea typeface="Oswald ExtraLight"/>
              <a:cs typeface="Oswald ExtraLight"/>
              <a:sym typeface="Oswald ExtraLight"/>
            </a:endParaRPr>
          </a:p>
          <a:p>
            <a:pPr indent="-355600" lvl="0" marL="457200" rtl="0" algn="l">
              <a:lnSpc>
                <a:spcPct val="200000"/>
              </a:lnSpc>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Fixing water leaks</a:t>
            </a:r>
            <a:endParaRPr sz="2000">
              <a:solidFill>
                <a:srgbClr val="3D85C6"/>
              </a:solidFill>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rainwater to water gardens and plants</a:t>
            </a:r>
            <a:endParaRPr sz="2000">
              <a:solidFill>
                <a:srgbClr val="3D85C6"/>
              </a:solidFill>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Take shorter showers</a:t>
            </a:r>
            <a:endParaRPr sz="2000">
              <a:solidFill>
                <a:srgbClr val="3D85C6"/>
              </a:solidFill>
              <a:latin typeface="Oswald ExtraLight"/>
              <a:ea typeface="Oswald ExtraLight"/>
              <a:cs typeface="Oswald ExtraLight"/>
              <a:sym typeface="Oswald ExtraLight"/>
            </a:endParaRPr>
          </a:p>
          <a:p>
            <a:pPr indent="-355600" lvl="0" marL="457200" rtl="0" algn="l">
              <a:lnSpc>
                <a:spcPct val="115000"/>
              </a:lnSpc>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Don't let water run while brushing your teeth or washing the dishes</a:t>
            </a:r>
            <a:endParaRPr sz="2000">
              <a:solidFill>
                <a:srgbClr val="3D85C6"/>
              </a:solidFill>
              <a:latin typeface="Oswald ExtraLight"/>
              <a:ea typeface="Oswald ExtraLight"/>
              <a:cs typeface="Oswald ExtraLight"/>
              <a:sym typeface="Oswald ExtraLight"/>
            </a:endParaRPr>
          </a:p>
        </p:txBody>
      </p:sp>
      <p:pic>
        <p:nvPicPr>
          <p:cNvPr descr="Save water concept. World water day. (Provided by Getty Images)" id="183" name="Google Shape;183;p37"/>
          <p:cNvPicPr preferRelativeResize="0"/>
          <p:nvPr/>
        </p:nvPicPr>
        <p:blipFill>
          <a:blip r:embed="rId3">
            <a:alphaModFix/>
          </a:blip>
          <a:stretch>
            <a:fillRect/>
          </a:stretch>
        </p:blipFill>
        <p:spPr>
          <a:xfrm>
            <a:off x="6198300" y="1170125"/>
            <a:ext cx="2793298" cy="27932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87" name="Shape 187"/>
        <p:cNvGrpSpPr/>
        <p:nvPr/>
      </p:nvGrpSpPr>
      <p:grpSpPr>
        <a:xfrm>
          <a:off x="0" y="0"/>
          <a:ext cx="0" cy="0"/>
          <a:chOff x="0" y="0"/>
          <a:chExt cx="0" cy="0"/>
        </a:xfrm>
      </p:grpSpPr>
      <p:sp>
        <p:nvSpPr>
          <p:cNvPr id="188" name="Google Shape;188;p38"/>
          <p:cNvSpPr txBox="1"/>
          <p:nvPr>
            <p:ph type="title"/>
          </p:nvPr>
        </p:nvSpPr>
        <p:spPr>
          <a:xfrm>
            <a:off x="311700" y="519975"/>
            <a:ext cx="8520600" cy="7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Measure Water Conservation in a Classroom?</a:t>
            </a:r>
            <a:endParaRPr sz="3211">
              <a:solidFill>
                <a:srgbClr val="1C4587"/>
              </a:solidFill>
              <a:latin typeface="Oswald Light"/>
              <a:ea typeface="Oswald Light"/>
              <a:cs typeface="Oswald Light"/>
              <a:sym typeface="Oswald Light"/>
            </a:endParaRPr>
          </a:p>
        </p:txBody>
      </p:sp>
      <p:sp>
        <p:nvSpPr>
          <p:cNvPr id="189" name="Google Shape;189;p38"/>
          <p:cNvSpPr txBox="1"/>
          <p:nvPr>
            <p:ph idx="1" type="body"/>
          </p:nvPr>
        </p:nvSpPr>
        <p:spPr>
          <a:xfrm>
            <a:off x="363150" y="1693325"/>
            <a:ext cx="8417700" cy="260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set up experiments comparing water loss in different conditions covered vs. uncovered containers, various soil types, and water-saving designs like mulch or drip irrigation. The water level sensor tracks water changes over time, allowing students to calculate evaporation rates, water retention, and conservation efficiency.</a:t>
            </a:r>
            <a:endParaRPr sz="2000">
              <a:solidFill>
                <a:srgbClr val="3D85C6"/>
              </a:solidFill>
              <a:latin typeface="Oswald ExtraLight"/>
              <a:ea typeface="Oswald ExtraLight"/>
              <a:cs typeface="Oswald ExtraLight"/>
              <a:sym typeface="Oswald Extra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93" name="Shape 193"/>
        <p:cNvGrpSpPr/>
        <p:nvPr/>
      </p:nvGrpSpPr>
      <p:grpSpPr>
        <a:xfrm>
          <a:off x="0" y="0"/>
          <a:ext cx="0" cy="0"/>
          <a:chOff x="0" y="0"/>
          <a:chExt cx="0" cy="0"/>
        </a:xfrm>
      </p:grpSpPr>
      <p:sp>
        <p:nvSpPr>
          <p:cNvPr id="194" name="Google Shape;19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195" name="Google Shape;195;p39"/>
          <p:cNvSpPr txBox="1"/>
          <p:nvPr>
            <p:ph idx="1" type="body"/>
          </p:nvPr>
        </p:nvSpPr>
        <p:spPr>
          <a:xfrm>
            <a:off x="311700" y="1152475"/>
            <a:ext cx="5234100" cy="3822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Monitor water levels to track usage and waste</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Observe how much water is lost to evaporation</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Study how different materials (soil, sand, mulch) affect water retention</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Explore how natural systems store and conserve water</a:t>
            </a:r>
            <a:endParaRPr sz="2000">
              <a:solidFill>
                <a:srgbClr val="3D85C6"/>
              </a:solidFill>
              <a:latin typeface="Oswald ExtraLight"/>
              <a:ea typeface="Oswald ExtraLight"/>
              <a:cs typeface="Oswald ExtraLight"/>
              <a:sym typeface="Oswald ExtraLight"/>
            </a:endParaRPr>
          </a:p>
        </p:txBody>
      </p:sp>
      <p:pic>
        <p:nvPicPr>
          <p:cNvPr id="196" name="Google Shape;196;p39"/>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00" name="Shape 200"/>
        <p:cNvGrpSpPr/>
        <p:nvPr/>
      </p:nvGrpSpPr>
      <p:grpSpPr>
        <a:xfrm>
          <a:off x="0" y="0"/>
          <a:ext cx="0" cy="0"/>
          <a:chOff x="0" y="0"/>
          <a:chExt cx="0" cy="0"/>
        </a:xfrm>
      </p:grpSpPr>
      <p:sp>
        <p:nvSpPr>
          <p:cNvPr id="201" name="Google Shape;201;p40"/>
          <p:cNvSpPr txBox="1"/>
          <p:nvPr>
            <p:ph type="title"/>
          </p:nvPr>
        </p:nvSpPr>
        <p:spPr>
          <a:xfrm>
            <a:off x="597000" y="936400"/>
            <a:ext cx="7950000" cy="1937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Watershed Modeling with a Water Level Sensor</a:t>
            </a:r>
            <a:endParaRPr sz="5200">
              <a:solidFill>
                <a:srgbClr val="1C4587"/>
              </a:solidFill>
              <a:latin typeface="Oswald Light"/>
              <a:ea typeface="Oswald Light"/>
              <a:cs typeface="Oswald Light"/>
              <a:sym typeface="Oswald Light"/>
            </a:endParaRPr>
          </a:p>
        </p:txBody>
      </p:sp>
      <p:sp>
        <p:nvSpPr>
          <p:cNvPr id="202" name="Google Shape;202;p40"/>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06" name="Shape 206"/>
        <p:cNvGrpSpPr/>
        <p:nvPr/>
      </p:nvGrpSpPr>
      <p:grpSpPr>
        <a:xfrm>
          <a:off x="0" y="0"/>
          <a:ext cx="0" cy="0"/>
          <a:chOff x="0" y="0"/>
          <a:chExt cx="0" cy="0"/>
        </a:xfrm>
      </p:grpSpPr>
      <p:sp>
        <p:nvSpPr>
          <p:cNvPr id="207" name="Google Shape;207;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a Watershed?</a:t>
            </a:r>
            <a:endParaRPr sz="3211">
              <a:solidFill>
                <a:srgbClr val="1C4587"/>
              </a:solidFill>
              <a:latin typeface="Oswald Light"/>
              <a:ea typeface="Oswald Light"/>
              <a:cs typeface="Oswald Light"/>
              <a:sym typeface="Oswald Light"/>
            </a:endParaRPr>
          </a:p>
        </p:txBody>
      </p:sp>
      <p:sp>
        <p:nvSpPr>
          <p:cNvPr id="208" name="Google Shape;208;p41"/>
          <p:cNvSpPr txBox="1"/>
          <p:nvPr>
            <p:ph idx="1" type="body"/>
          </p:nvPr>
        </p:nvSpPr>
        <p:spPr>
          <a:xfrm>
            <a:off x="311700" y="1152475"/>
            <a:ext cx="3944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000">
                <a:solidFill>
                  <a:srgbClr val="3D85C6"/>
                </a:solidFill>
                <a:latin typeface="Oswald ExtraLight"/>
                <a:ea typeface="Oswald ExtraLight"/>
                <a:cs typeface="Oswald ExtraLight"/>
                <a:sym typeface="Oswald ExtraLight"/>
              </a:rPr>
              <a:t>Watersheds are an area where all forms of precipitation drain to. It is typically connected by a system of streams and channels to connect to one body of water. People rely on watersheds to provide clean drinking water. </a:t>
            </a:r>
            <a:endParaRPr sz="2000">
              <a:solidFill>
                <a:srgbClr val="3D85C6"/>
              </a:solidFill>
              <a:latin typeface="Oswald ExtraLight"/>
              <a:ea typeface="Oswald ExtraLight"/>
              <a:cs typeface="Oswald ExtraLight"/>
              <a:sym typeface="Oswald ExtraLight"/>
            </a:endParaRPr>
          </a:p>
          <a:p>
            <a:pPr indent="0" lvl="0" marL="0" rtl="0" algn="l">
              <a:spcBef>
                <a:spcPts val="1200"/>
              </a:spcBef>
              <a:spcAft>
                <a:spcPts val="1200"/>
              </a:spcAft>
              <a:buNone/>
            </a:pPr>
            <a:r>
              <a:t/>
            </a:r>
            <a:endParaRPr sz="2000">
              <a:solidFill>
                <a:srgbClr val="3D85C6"/>
              </a:solidFill>
              <a:latin typeface="Oswald ExtraLight"/>
              <a:ea typeface="Oswald ExtraLight"/>
              <a:cs typeface="Oswald ExtraLight"/>
              <a:sym typeface="Oswald ExtraLight"/>
            </a:endParaRPr>
          </a:p>
        </p:txBody>
      </p:sp>
      <p:pic>
        <p:nvPicPr>
          <p:cNvPr id="209" name="Google Shape;209;p41"/>
          <p:cNvPicPr preferRelativeResize="0"/>
          <p:nvPr/>
        </p:nvPicPr>
        <p:blipFill>
          <a:blip r:embed="rId3">
            <a:alphaModFix/>
          </a:blip>
          <a:stretch>
            <a:fillRect/>
          </a:stretch>
        </p:blipFill>
        <p:spPr>
          <a:xfrm>
            <a:off x="4903475" y="1017725"/>
            <a:ext cx="3840775" cy="2721200"/>
          </a:xfrm>
          <a:prstGeom prst="rect">
            <a:avLst/>
          </a:prstGeom>
          <a:noFill/>
          <a:ln>
            <a:noFill/>
          </a:ln>
        </p:spPr>
      </p:pic>
      <p:pic>
        <p:nvPicPr>
          <p:cNvPr descr="Aerial locals sanjiang wetland (Provided by Getty Images)" id="210" name="Google Shape;210;p41"/>
          <p:cNvPicPr preferRelativeResize="0"/>
          <p:nvPr/>
        </p:nvPicPr>
        <p:blipFill>
          <a:blip r:embed="rId4">
            <a:alphaModFix/>
          </a:blip>
          <a:stretch>
            <a:fillRect/>
          </a:stretch>
        </p:blipFill>
        <p:spPr>
          <a:xfrm>
            <a:off x="311688" y="3151219"/>
            <a:ext cx="4288876" cy="176330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14" name="Shape 214"/>
        <p:cNvGrpSpPr/>
        <p:nvPr/>
      </p:nvGrpSpPr>
      <p:grpSpPr>
        <a:xfrm>
          <a:off x="0" y="0"/>
          <a:ext cx="0" cy="0"/>
          <a:chOff x="0" y="0"/>
          <a:chExt cx="0" cy="0"/>
        </a:xfrm>
      </p:grpSpPr>
      <p:sp>
        <p:nvSpPr>
          <p:cNvPr id="215" name="Google Shape;215;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Hydrological Modeling?</a:t>
            </a:r>
            <a:endParaRPr sz="3211">
              <a:solidFill>
                <a:srgbClr val="1C4587"/>
              </a:solidFill>
              <a:latin typeface="Oswald Light"/>
              <a:ea typeface="Oswald Light"/>
              <a:cs typeface="Oswald Light"/>
              <a:sym typeface="Oswald Light"/>
            </a:endParaRPr>
          </a:p>
        </p:txBody>
      </p:sp>
      <p:sp>
        <p:nvSpPr>
          <p:cNvPr id="216" name="Google Shape;216;p42"/>
          <p:cNvSpPr txBox="1"/>
          <p:nvPr>
            <p:ph idx="1" type="body"/>
          </p:nvPr>
        </p:nvSpPr>
        <p:spPr>
          <a:xfrm>
            <a:off x="311700" y="1152475"/>
            <a:ext cx="8520600" cy="163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Hydrological modeling is the process of using different types of simulations to help people understand how water moves through the environment. Things like physical models or computer programs are used to simulate these processes. Hydrological modeling helps scientist and engineers predict things like floods, droughts, and how other environmental changes affect different bodies of water. </a:t>
            </a:r>
            <a:endParaRPr sz="2000">
              <a:solidFill>
                <a:srgbClr val="3D85C6"/>
              </a:solidFill>
              <a:latin typeface="Oswald ExtraLight"/>
              <a:ea typeface="Oswald ExtraLight"/>
              <a:cs typeface="Oswald ExtraLight"/>
              <a:sym typeface="Oswald ExtraLight"/>
            </a:endParaRPr>
          </a:p>
        </p:txBody>
      </p:sp>
      <p:pic>
        <p:nvPicPr>
          <p:cNvPr id="217" name="Google Shape;217;p42"/>
          <p:cNvPicPr preferRelativeResize="0"/>
          <p:nvPr/>
        </p:nvPicPr>
        <p:blipFill>
          <a:blip r:embed="rId3">
            <a:alphaModFix/>
          </a:blip>
          <a:stretch>
            <a:fillRect/>
          </a:stretch>
        </p:blipFill>
        <p:spPr>
          <a:xfrm>
            <a:off x="1081775" y="2918025"/>
            <a:ext cx="3652905" cy="2055425"/>
          </a:xfrm>
          <a:prstGeom prst="rect">
            <a:avLst/>
          </a:prstGeom>
          <a:noFill/>
          <a:ln>
            <a:noFill/>
          </a:ln>
        </p:spPr>
      </p:pic>
      <p:pic>
        <p:nvPicPr>
          <p:cNvPr descr="vector illustration of the water cycle in nature. ESP10. (Provided by Getty Images)" id="218" name="Google Shape;218;p42"/>
          <p:cNvPicPr preferRelativeResize="0"/>
          <p:nvPr/>
        </p:nvPicPr>
        <p:blipFill>
          <a:blip r:embed="rId4">
            <a:alphaModFix/>
          </a:blip>
          <a:stretch>
            <a:fillRect/>
          </a:stretch>
        </p:blipFill>
        <p:spPr>
          <a:xfrm>
            <a:off x="5816480" y="2918025"/>
            <a:ext cx="2740567" cy="2055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22" name="Shape 222"/>
        <p:cNvGrpSpPr/>
        <p:nvPr/>
      </p:nvGrpSpPr>
      <p:grpSpPr>
        <a:xfrm>
          <a:off x="0" y="0"/>
          <a:ext cx="0" cy="0"/>
          <a:chOff x="0" y="0"/>
          <a:chExt cx="0" cy="0"/>
        </a:xfrm>
      </p:grpSpPr>
      <p:sp>
        <p:nvSpPr>
          <p:cNvPr id="223" name="Google Shape;223;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Why is Hydrological Modeling Important?</a:t>
            </a:r>
            <a:endParaRPr sz="3211">
              <a:solidFill>
                <a:srgbClr val="1C4587"/>
              </a:solidFill>
              <a:latin typeface="Oswald Light"/>
              <a:ea typeface="Oswald Light"/>
              <a:cs typeface="Oswald Light"/>
              <a:sym typeface="Oswald Light"/>
            </a:endParaRPr>
          </a:p>
        </p:txBody>
      </p:sp>
      <p:sp>
        <p:nvSpPr>
          <p:cNvPr id="224" name="Google Shape;224;p43"/>
          <p:cNvSpPr txBox="1"/>
          <p:nvPr>
            <p:ph idx="1" type="body"/>
          </p:nvPr>
        </p:nvSpPr>
        <p:spPr>
          <a:xfrm>
            <a:off x="311700" y="1152475"/>
            <a:ext cx="5299500" cy="387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rgbClr val="3D85C6"/>
                </a:solidFill>
                <a:latin typeface="Oswald ExtraLight"/>
                <a:ea typeface="Oswald ExtraLight"/>
                <a:cs typeface="Oswald ExtraLight"/>
                <a:sym typeface="Oswald ExtraLight"/>
              </a:rPr>
              <a:t>Hydrological modeling is very important because:</a:t>
            </a:r>
            <a:endParaRPr sz="2000">
              <a:solidFill>
                <a:srgbClr val="3D85C6"/>
              </a:solidFill>
              <a:latin typeface="Oswald ExtraLight"/>
              <a:ea typeface="Oswald ExtraLight"/>
              <a:cs typeface="Oswald ExtraLight"/>
              <a:sym typeface="Oswald ExtraLight"/>
            </a:endParaRPr>
          </a:p>
          <a:p>
            <a:pPr indent="0" lvl="0" marL="0" rtl="0" algn="l">
              <a:spcBef>
                <a:spcPts val="1200"/>
              </a:spcBef>
              <a:spcAft>
                <a:spcPts val="0"/>
              </a:spcAft>
              <a:buNone/>
            </a:pPr>
            <a:r>
              <a:t/>
            </a:r>
            <a:endParaRPr sz="600">
              <a:solidFill>
                <a:srgbClr val="3D85C6"/>
              </a:solidFill>
              <a:latin typeface="Oswald ExtraLight"/>
              <a:ea typeface="Oswald ExtraLight"/>
              <a:cs typeface="Oswald ExtraLight"/>
              <a:sym typeface="Oswald ExtraLight"/>
            </a:endParaRPr>
          </a:p>
          <a:p>
            <a:pPr indent="-355600" lvl="0" marL="457200" rtl="0" algn="l">
              <a:lnSpc>
                <a:spcPct val="150000"/>
              </a:lnSpc>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It can show scientist when and where a flood is likely to happen</a:t>
            </a:r>
            <a:endParaRPr sz="2000">
              <a:solidFill>
                <a:srgbClr val="3D85C6"/>
              </a:solidFill>
              <a:latin typeface="Oswald ExtraLight"/>
              <a:ea typeface="Oswald ExtraLight"/>
              <a:cs typeface="Oswald ExtraLight"/>
              <a:sym typeface="Oswald ExtraLight"/>
            </a:endParaRPr>
          </a:p>
          <a:p>
            <a:pPr indent="-355600" lvl="0" marL="457200" rtl="0" algn="l">
              <a:lnSpc>
                <a:spcPct val="150000"/>
              </a:lnSpc>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Helps plan water storage, irrigation, and supply systems</a:t>
            </a:r>
            <a:endParaRPr sz="2000">
              <a:solidFill>
                <a:srgbClr val="3D85C6"/>
              </a:solidFill>
              <a:latin typeface="Oswald ExtraLight"/>
              <a:ea typeface="Oswald ExtraLight"/>
              <a:cs typeface="Oswald ExtraLight"/>
              <a:sym typeface="Oswald ExtraLight"/>
            </a:endParaRPr>
          </a:p>
          <a:p>
            <a:pPr indent="-355600" lvl="0" marL="457200" rtl="0" algn="l">
              <a:lnSpc>
                <a:spcPct val="150000"/>
              </a:lnSpc>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Can predict how pollution moves through watersheds</a:t>
            </a:r>
            <a:endParaRPr sz="2000">
              <a:solidFill>
                <a:srgbClr val="3D85C6"/>
              </a:solidFill>
              <a:latin typeface="Oswald ExtraLight"/>
              <a:ea typeface="Oswald ExtraLight"/>
              <a:cs typeface="Oswald ExtraLight"/>
              <a:sym typeface="Oswald ExtraLight"/>
            </a:endParaRPr>
          </a:p>
          <a:p>
            <a:pPr indent="-355600" lvl="0" marL="457200" rtl="0" algn="l">
              <a:lnSpc>
                <a:spcPct val="150000"/>
              </a:lnSpc>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Allows scientist to assess how changes in rainfall patterns impact water resources</a:t>
            </a:r>
            <a:endParaRPr sz="2000">
              <a:solidFill>
                <a:srgbClr val="3D85C6"/>
              </a:solidFill>
              <a:latin typeface="Oswald ExtraLight"/>
              <a:ea typeface="Oswald ExtraLight"/>
              <a:cs typeface="Oswald ExtraLight"/>
              <a:sym typeface="Oswald ExtraLight"/>
            </a:endParaRPr>
          </a:p>
        </p:txBody>
      </p:sp>
      <p:pic>
        <p:nvPicPr>
          <p:cNvPr id="225" name="Google Shape;225;p43"/>
          <p:cNvPicPr preferRelativeResize="0"/>
          <p:nvPr/>
        </p:nvPicPr>
        <p:blipFill>
          <a:blip r:embed="rId3">
            <a:alphaModFix/>
          </a:blip>
          <a:stretch>
            <a:fillRect/>
          </a:stretch>
        </p:blipFill>
        <p:spPr>
          <a:xfrm>
            <a:off x="5611200" y="3039750"/>
            <a:ext cx="3228000" cy="1992024"/>
          </a:xfrm>
          <a:prstGeom prst="rect">
            <a:avLst/>
          </a:prstGeom>
          <a:noFill/>
          <a:ln>
            <a:noFill/>
          </a:ln>
        </p:spPr>
      </p:pic>
      <p:pic>
        <p:nvPicPr>
          <p:cNvPr id="226" name="Google Shape;226;p43"/>
          <p:cNvPicPr preferRelativeResize="0"/>
          <p:nvPr/>
        </p:nvPicPr>
        <p:blipFill>
          <a:blip r:embed="rId4">
            <a:alphaModFix/>
          </a:blip>
          <a:stretch>
            <a:fillRect/>
          </a:stretch>
        </p:blipFill>
        <p:spPr>
          <a:xfrm>
            <a:off x="6195825" y="1170125"/>
            <a:ext cx="2286089" cy="1717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30" name="Shape 230"/>
        <p:cNvGrpSpPr/>
        <p:nvPr/>
      </p:nvGrpSpPr>
      <p:grpSpPr>
        <a:xfrm>
          <a:off x="0" y="0"/>
          <a:ext cx="0" cy="0"/>
          <a:chOff x="0" y="0"/>
          <a:chExt cx="0" cy="0"/>
        </a:xfrm>
      </p:grpSpPr>
      <p:sp>
        <p:nvSpPr>
          <p:cNvPr id="231" name="Google Shape;231;p44"/>
          <p:cNvSpPr txBox="1"/>
          <p:nvPr>
            <p:ph type="title"/>
          </p:nvPr>
        </p:nvSpPr>
        <p:spPr>
          <a:xfrm>
            <a:off x="311700" y="445025"/>
            <a:ext cx="8520600" cy="7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Model a Watershed in a Classroom?</a:t>
            </a:r>
            <a:endParaRPr sz="3211">
              <a:solidFill>
                <a:srgbClr val="1C4587"/>
              </a:solidFill>
              <a:latin typeface="Oswald Light"/>
              <a:ea typeface="Oswald Light"/>
              <a:cs typeface="Oswald Light"/>
              <a:sym typeface="Oswald Light"/>
            </a:endParaRPr>
          </a:p>
        </p:txBody>
      </p:sp>
      <p:sp>
        <p:nvSpPr>
          <p:cNvPr id="232" name="Google Shape;232;p44"/>
          <p:cNvSpPr txBox="1"/>
          <p:nvPr>
            <p:ph idx="1" type="body"/>
          </p:nvPr>
        </p:nvSpPr>
        <p:spPr>
          <a:xfrm>
            <a:off x="311700" y="1243625"/>
            <a:ext cx="4178100" cy="3325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1: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build a model watershed with hills, streams, and low basins. Using the water level sensor in the “lake” areas, they track water movement and pooling after rainfall. They compare results from models with vegetation vs. bare soil, learning how land cover impacts runoff, erosion, and storage.</a:t>
            </a:r>
            <a:endParaRPr sz="2000">
              <a:solidFill>
                <a:srgbClr val="3D85C6"/>
              </a:solidFill>
              <a:latin typeface="Oswald ExtraLight"/>
              <a:ea typeface="Oswald ExtraLight"/>
              <a:cs typeface="Oswald ExtraLight"/>
              <a:sym typeface="Oswald ExtraLight"/>
            </a:endParaRPr>
          </a:p>
        </p:txBody>
      </p:sp>
      <p:pic>
        <p:nvPicPr>
          <p:cNvPr descr="Watershed as water basin system with mountain river streams (Provided by Getty Images)" id="233" name="Google Shape;233;p44"/>
          <p:cNvPicPr preferRelativeResize="0"/>
          <p:nvPr/>
        </p:nvPicPr>
        <p:blipFill>
          <a:blip r:embed="rId3">
            <a:alphaModFix/>
          </a:blip>
          <a:stretch>
            <a:fillRect/>
          </a:stretch>
        </p:blipFill>
        <p:spPr>
          <a:xfrm>
            <a:off x="4642200" y="1396025"/>
            <a:ext cx="4349399" cy="32620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37" name="Shape 237"/>
        <p:cNvGrpSpPr/>
        <p:nvPr/>
      </p:nvGrpSpPr>
      <p:grpSpPr>
        <a:xfrm>
          <a:off x="0" y="0"/>
          <a:ext cx="0" cy="0"/>
          <a:chOff x="0" y="0"/>
          <a:chExt cx="0" cy="0"/>
        </a:xfrm>
      </p:grpSpPr>
      <p:sp>
        <p:nvSpPr>
          <p:cNvPr id="238" name="Google Shape;2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239" name="Google Shape;239;p45"/>
          <p:cNvSpPr txBox="1"/>
          <p:nvPr>
            <p:ph idx="1" type="body"/>
          </p:nvPr>
        </p:nvSpPr>
        <p:spPr>
          <a:xfrm>
            <a:off x="311700" y="1152475"/>
            <a:ext cx="5234100" cy="38220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Measure water levels in different parts of a model watershed</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Track how land features (hills, pavement, vegetation) affect water flow</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real-time data to validate simulations or predictions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Explore how engineers plan for safe and healthy water systems</a:t>
            </a:r>
            <a:endParaRPr sz="2000">
              <a:solidFill>
                <a:srgbClr val="3D85C6"/>
              </a:solidFill>
              <a:latin typeface="Oswald ExtraLight"/>
              <a:ea typeface="Oswald ExtraLight"/>
              <a:cs typeface="Oswald ExtraLight"/>
              <a:sym typeface="Oswald ExtraLight"/>
            </a:endParaRPr>
          </a:p>
        </p:txBody>
      </p:sp>
      <p:pic>
        <p:nvPicPr>
          <p:cNvPr id="240" name="Google Shape;240;p45"/>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44" name="Shape 244"/>
        <p:cNvGrpSpPr/>
        <p:nvPr/>
      </p:nvGrpSpPr>
      <p:grpSpPr>
        <a:xfrm>
          <a:off x="0" y="0"/>
          <a:ext cx="0" cy="0"/>
          <a:chOff x="0" y="0"/>
          <a:chExt cx="0" cy="0"/>
        </a:xfrm>
      </p:grpSpPr>
      <p:sp>
        <p:nvSpPr>
          <p:cNvPr id="245" name="Google Shape;245;p46"/>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Flood Predictions with a Water Level Sensor</a:t>
            </a:r>
            <a:endParaRPr sz="5200">
              <a:solidFill>
                <a:srgbClr val="1C4587"/>
              </a:solidFill>
              <a:latin typeface="Oswald Light"/>
              <a:ea typeface="Oswald Light"/>
              <a:cs typeface="Oswald Light"/>
              <a:sym typeface="Oswald Light"/>
            </a:endParaRPr>
          </a:p>
        </p:txBody>
      </p:sp>
      <p:sp>
        <p:nvSpPr>
          <p:cNvPr id="246" name="Google Shape;246;p46"/>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50" name="Shape 250"/>
        <p:cNvGrpSpPr/>
        <p:nvPr/>
      </p:nvGrpSpPr>
      <p:grpSpPr>
        <a:xfrm>
          <a:off x="0" y="0"/>
          <a:ext cx="0" cy="0"/>
          <a:chOff x="0" y="0"/>
          <a:chExt cx="0" cy="0"/>
        </a:xfrm>
      </p:grpSpPr>
      <p:sp>
        <p:nvSpPr>
          <p:cNvPr id="251" name="Google Shape;251;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Flood Prediction?</a:t>
            </a:r>
            <a:endParaRPr sz="3211">
              <a:solidFill>
                <a:srgbClr val="1C4587"/>
              </a:solidFill>
              <a:latin typeface="Oswald Light"/>
              <a:ea typeface="Oswald Light"/>
              <a:cs typeface="Oswald Light"/>
              <a:sym typeface="Oswald Light"/>
            </a:endParaRPr>
          </a:p>
        </p:txBody>
      </p:sp>
      <p:sp>
        <p:nvSpPr>
          <p:cNvPr id="252" name="Google Shape;25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Flood predictions are estimates of when and where water levels might rise too much and cause flooding. Scientist do this by looking at rainfall data, river levels, land shape, and soil type. After, they can take this data and information and transfer it into a computer models that can simulate flood like events. This helps people know when to prepare for a flood or when to evacuate well before a flood happens. </a:t>
            </a:r>
            <a:endParaRPr sz="2000">
              <a:solidFill>
                <a:srgbClr val="3D85C6"/>
              </a:solidFill>
              <a:latin typeface="Oswald ExtraLight"/>
              <a:ea typeface="Oswald ExtraLight"/>
              <a:cs typeface="Oswald ExtraLight"/>
              <a:sym typeface="Oswald ExtraLight"/>
            </a:endParaRPr>
          </a:p>
        </p:txBody>
      </p:sp>
      <p:pic>
        <p:nvPicPr>
          <p:cNvPr descr="Flash flood warning illustration board (Provided by Getty Images)" id="253" name="Google Shape;253;p47"/>
          <p:cNvPicPr preferRelativeResize="0"/>
          <p:nvPr/>
        </p:nvPicPr>
        <p:blipFill>
          <a:blip r:embed="rId3">
            <a:alphaModFix/>
          </a:blip>
          <a:stretch>
            <a:fillRect/>
          </a:stretch>
        </p:blipFill>
        <p:spPr>
          <a:xfrm>
            <a:off x="5427676" y="2895200"/>
            <a:ext cx="3716326" cy="2248299"/>
          </a:xfrm>
          <a:prstGeom prst="rect">
            <a:avLst/>
          </a:prstGeom>
          <a:noFill/>
          <a:ln>
            <a:noFill/>
          </a:ln>
        </p:spPr>
      </p:pic>
      <p:pic>
        <p:nvPicPr>
          <p:cNvPr descr="Flooded road and rainy weather conditions. Closed city road with transportable variable message sign. Electronic led road sign display. (Provided by Getty Images)" id="254" name="Google Shape;254;p47"/>
          <p:cNvPicPr preferRelativeResize="0"/>
          <p:nvPr/>
        </p:nvPicPr>
        <p:blipFill>
          <a:blip r:embed="rId4">
            <a:alphaModFix/>
          </a:blip>
          <a:stretch>
            <a:fillRect/>
          </a:stretch>
        </p:blipFill>
        <p:spPr>
          <a:xfrm>
            <a:off x="2155109" y="2895200"/>
            <a:ext cx="3272566" cy="2248302"/>
          </a:xfrm>
          <a:prstGeom prst="rect">
            <a:avLst/>
          </a:prstGeom>
          <a:noFill/>
          <a:ln>
            <a:noFill/>
          </a:ln>
        </p:spPr>
      </p:pic>
      <p:pic>
        <p:nvPicPr>
          <p:cNvPr descr="Flash flood warning. Natural disaster alert. Storm, rain, flooded home. (Provided by Getty Images)" id="255" name="Google Shape;255;p47"/>
          <p:cNvPicPr preferRelativeResize="0"/>
          <p:nvPr/>
        </p:nvPicPr>
        <p:blipFill rotWithShape="1">
          <a:blip r:embed="rId5">
            <a:alphaModFix/>
          </a:blip>
          <a:srcRect b="0" l="4141" r="0" t="0"/>
          <a:stretch/>
        </p:blipFill>
        <p:spPr>
          <a:xfrm>
            <a:off x="0" y="2895200"/>
            <a:ext cx="2155100" cy="2248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59" name="Shape 259"/>
        <p:cNvGrpSpPr/>
        <p:nvPr/>
      </p:nvGrpSpPr>
      <p:grpSpPr>
        <a:xfrm>
          <a:off x="0" y="0"/>
          <a:ext cx="0" cy="0"/>
          <a:chOff x="0" y="0"/>
          <a:chExt cx="0" cy="0"/>
        </a:xfrm>
      </p:grpSpPr>
      <p:sp>
        <p:nvSpPr>
          <p:cNvPr id="260" name="Google Shape;260;p48"/>
          <p:cNvSpPr txBox="1"/>
          <p:nvPr>
            <p:ph type="title"/>
          </p:nvPr>
        </p:nvSpPr>
        <p:spPr>
          <a:xfrm>
            <a:off x="311700" y="445025"/>
            <a:ext cx="8520600" cy="7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Predict Floods in a Classroom?</a:t>
            </a:r>
            <a:endParaRPr sz="3211">
              <a:solidFill>
                <a:srgbClr val="1C4587"/>
              </a:solidFill>
              <a:latin typeface="Oswald Light"/>
              <a:ea typeface="Oswald Light"/>
              <a:cs typeface="Oswald Light"/>
              <a:sym typeface="Oswald Light"/>
            </a:endParaRPr>
          </a:p>
        </p:txBody>
      </p:sp>
      <p:sp>
        <p:nvSpPr>
          <p:cNvPr id="261" name="Google Shape;261;p48"/>
          <p:cNvSpPr txBox="1"/>
          <p:nvPr>
            <p:ph idx="1" type="body"/>
          </p:nvPr>
        </p:nvSpPr>
        <p:spPr>
          <a:xfrm>
            <a:off x="311700" y="1243625"/>
            <a:ext cx="5329500" cy="332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can simulate heavy rain events in a model river or urban landscape and use the water level sensor to measure how quickly water rises. They then program a simple alert system that triggers when water reaches a set level. By combining rainfall data and water level readings, they practice predicting flood risks.</a:t>
            </a:r>
            <a:endParaRPr sz="2000">
              <a:solidFill>
                <a:srgbClr val="3D85C6"/>
              </a:solidFill>
              <a:latin typeface="Oswald ExtraLight"/>
              <a:ea typeface="Oswald ExtraLight"/>
              <a:cs typeface="Oswald ExtraLight"/>
              <a:sym typeface="Oswald ExtraLight"/>
            </a:endParaRPr>
          </a:p>
        </p:txBody>
      </p:sp>
      <p:pic>
        <p:nvPicPr>
          <p:cNvPr descr="water meter to measure the water level in the polder near Woerden in the province of Utrecht (Provided by Getty Images)" id="262" name="Google Shape;262;p48"/>
          <p:cNvPicPr preferRelativeResize="0"/>
          <p:nvPr/>
        </p:nvPicPr>
        <p:blipFill>
          <a:blip r:embed="rId3">
            <a:alphaModFix/>
          </a:blip>
          <a:stretch>
            <a:fillRect/>
          </a:stretch>
        </p:blipFill>
        <p:spPr>
          <a:xfrm>
            <a:off x="6328325" y="1243625"/>
            <a:ext cx="2396131" cy="3595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66" name="Shape 266"/>
        <p:cNvGrpSpPr/>
        <p:nvPr/>
      </p:nvGrpSpPr>
      <p:grpSpPr>
        <a:xfrm>
          <a:off x="0" y="0"/>
          <a:ext cx="0" cy="0"/>
          <a:chOff x="0" y="0"/>
          <a:chExt cx="0" cy="0"/>
        </a:xfrm>
      </p:grpSpPr>
      <p:sp>
        <p:nvSpPr>
          <p:cNvPr id="267" name="Google Shape;267;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268" name="Google Shape;268;p49"/>
          <p:cNvSpPr txBox="1"/>
          <p:nvPr>
            <p:ph idx="1" type="body"/>
          </p:nvPr>
        </p:nvSpPr>
        <p:spPr>
          <a:xfrm>
            <a:off x="311700" y="1152475"/>
            <a:ext cx="5234100" cy="3822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Monitor rising water levels during simulated storms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Create early warning systems using sensor triggers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and graph water level data in real time</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Build models that predict flooding based on input data</a:t>
            </a:r>
            <a:endParaRPr sz="2000">
              <a:solidFill>
                <a:srgbClr val="3D85C6"/>
              </a:solidFill>
              <a:latin typeface="Oswald ExtraLight"/>
              <a:ea typeface="Oswald ExtraLight"/>
              <a:cs typeface="Oswald ExtraLight"/>
              <a:sym typeface="Oswald ExtraLight"/>
            </a:endParaRPr>
          </a:p>
        </p:txBody>
      </p:sp>
      <p:pic>
        <p:nvPicPr>
          <p:cNvPr id="269" name="Google Shape;269;p49"/>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73" name="Shape 273"/>
        <p:cNvGrpSpPr/>
        <p:nvPr/>
      </p:nvGrpSpPr>
      <p:grpSpPr>
        <a:xfrm>
          <a:off x="0" y="0"/>
          <a:ext cx="0" cy="0"/>
          <a:chOff x="0" y="0"/>
          <a:chExt cx="0" cy="0"/>
        </a:xfrm>
      </p:grpSpPr>
      <p:sp>
        <p:nvSpPr>
          <p:cNvPr id="274" name="Google Shape;274;p50"/>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Urbanization Impacts with a Water Level Sensor</a:t>
            </a:r>
            <a:endParaRPr sz="5200">
              <a:solidFill>
                <a:srgbClr val="1C4587"/>
              </a:solidFill>
              <a:latin typeface="Oswald Light"/>
              <a:ea typeface="Oswald Light"/>
              <a:cs typeface="Oswald Light"/>
              <a:sym typeface="Oswald Light"/>
            </a:endParaRPr>
          </a:p>
        </p:txBody>
      </p:sp>
      <p:sp>
        <p:nvSpPr>
          <p:cNvPr id="275" name="Google Shape;275;p50"/>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79" name="Shape 279"/>
        <p:cNvGrpSpPr/>
        <p:nvPr/>
      </p:nvGrpSpPr>
      <p:grpSpPr>
        <a:xfrm>
          <a:off x="0" y="0"/>
          <a:ext cx="0" cy="0"/>
          <a:chOff x="0" y="0"/>
          <a:chExt cx="0" cy="0"/>
        </a:xfrm>
      </p:grpSpPr>
      <p:sp>
        <p:nvSpPr>
          <p:cNvPr id="280" name="Google Shape;280;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Urbanization?</a:t>
            </a:r>
            <a:endParaRPr sz="3211">
              <a:solidFill>
                <a:srgbClr val="1C4587"/>
              </a:solidFill>
              <a:latin typeface="Oswald Light"/>
              <a:ea typeface="Oswald Light"/>
              <a:cs typeface="Oswald Light"/>
              <a:sym typeface="Oswald Light"/>
            </a:endParaRPr>
          </a:p>
        </p:txBody>
      </p:sp>
      <p:sp>
        <p:nvSpPr>
          <p:cNvPr id="281" name="Google Shape;281;p51"/>
          <p:cNvSpPr txBox="1"/>
          <p:nvPr>
            <p:ph idx="1" type="body"/>
          </p:nvPr>
        </p:nvSpPr>
        <p:spPr>
          <a:xfrm>
            <a:off x="311700" y="1152475"/>
            <a:ext cx="4260300" cy="384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Urbanization is when people from more rural and countryside areas move to a much more populated location such as cities or big towns. When these areas become more populated, there becomes a bigger demand for houses, roads, jobs, and food places. This means more buildings and less trees and other natural resources. This affects local ecosystems by changing how water flows and increasing the amount of pollution in an area. </a:t>
            </a:r>
            <a:endParaRPr sz="2000">
              <a:solidFill>
                <a:srgbClr val="3D85C6"/>
              </a:solidFill>
              <a:latin typeface="Oswald ExtraLight"/>
              <a:ea typeface="Oswald ExtraLight"/>
              <a:cs typeface="Oswald ExtraLight"/>
              <a:sym typeface="Oswald ExtraLight"/>
            </a:endParaRPr>
          </a:p>
        </p:txBody>
      </p:sp>
      <p:pic>
        <p:nvPicPr>
          <p:cNvPr descr="a cartoon illustration of a city with a blue sky and white clouds (Provided by Tenor)" id="282" name="Google Shape;282;p51"/>
          <p:cNvPicPr preferRelativeResize="0"/>
          <p:nvPr/>
        </p:nvPicPr>
        <p:blipFill>
          <a:blip r:embed="rId3">
            <a:alphaModFix/>
          </a:blip>
          <a:stretch>
            <a:fillRect/>
          </a:stretch>
        </p:blipFill>
        <p:spPr>
          <a:xfrm>
            <a:off x="4572000" y="285750"/>
            <a:ext cx="4572000" cy="4572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86" name="Shape 286"/>
        <p:cNvGrpSpPr/>
        <p:nvPr/>
      </p:nvGrpSpPr>
      <p:grpSpPr>
        <a:xfrm>
          <a:off x="0" y="0"/>
          <a:ext cx="0" cy="0"/>
          <a:chOff x="0" y="0"/>
          <a:chExt cx="0" cy="0"/>
        </a:xfrm>
      </p:grpSpPr>
      <p:sp>
        <p:nvSpPr>
          <p:cNvPr id="287" name="Google Shape;287;p52"/>
          <p:cNvSpPr txBox="1"/>
          <p:nvPr>
            <p:ph type="title"/>
          </p:nvPr>
        </p:nvSpPr>
        <p:spPr>
          <a:xfrm>
            <a:off x="895350" y="379475"/>
            <a:ext cx="7353300" cy="108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solidFill>
                  <a:srgbClr val="1C4587"/>
                </a:solidFill>
                <a:latin typeface="Oswald Light"/>
                <a:ea typeface="Oswald Light"/>
                <a:cs typeface="Oswald Light"/>
                <a:sym typeface="Oswald Light"/>
              </a:rPr>
              <a:t>How Can We Model the Impacts of Urbanization in a Classroom?</a:t>
            </a:r>
            <a:endParaRPr sz="3211">
              <a:solidFill>
                <a:srgbClr val="1C4587"/>
              </a:solidFill>
              <a:latin typeface="Oswald Light"/>
              <a:ea typeface="Oswald Light"/>
              <a:cs typeface="Oswald Light"/>
              <a:sym typeface="Oswald Light"/>
            </a:endParaRPr>
          </a:p>
        </p:txBody>
      </p:sp>
      <p:sp>
        <p:nvSpPr>
          <p:cNvPr id="288" name="Google Shape;288;p52"/>
          <p:cNvSpPr txBox="1"/>
          <p:nvPr>
            <p:ph idx="1" type="body"/>
          </p:nvPr>
        </p:nvSpPr>
        <p:spPr>
          <a:xfrm>
            <a:off x="865350" y="1852825"/>
            <a:ext cx="7413300" cy="218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model two areas, one paved and one vegetated, and measure water levels after identical rain events. They compare runoff speed, water storage, and drainage. The experiment shows how pavement increases flooding risk and how green infrastructure like rain gardens can improve stormwater management.</a:t>
            </a:r>
            <a:endParaRPr sz="2000">
              <a:solidFill>
                <a:srgbClr val="3D85C6"/>
              </a:solidFill>
              <a:latin typeface="Oswald ExtraLight"/>
              <a:ea typeface="Oswald ExtraLight"/>
              <a:cs typeface="Oswald ExtraLight"/>
              <a:sym typeface="Oswald ExtraLight"/>
            </a:endParaRPr>
          </a:p>
        </p:txBody>
      </p:sp>
      <p:pic>
        <p:nvPicPr>
          <p:cNvPr descr="a pixel art of an airplane taking off from an airport (Provided by Tenor)" id="289" name="Google Shape;289;p52"/>
          <p:cNvPicPr preferRelativeResize="0"/>
          <p:nvPr/>
        </p:nvPicPr>
        <p:blipFill rotWithShape="1">
          <a:blip r:embed="rId3">
            <a:alphaModFix/>
          </a:blip>
          <a:srcRect b="0" l="0" r="0" t="72849"/>
          <a:stretch/>
        </p:blipFill>
        <p:spPr>
          <a:xfrm>
            <a:off x="1943100" y="4753000"/>
            <a:ext cx="1943100" cy="390500"/>
          </a:xfrm>
          <a:prstGeom prst="rect">
            <a:avLst/>
          </a:prstGeom>
          <a:noFill/>
          <a:ln>
            <a:noFill/>
          </a:ln>
        </p:spPr>
      </p:pic>
      <p:pic>
        <p:nvPicPr>
          <p:cNvPr descr="a pixel art of an airplane taking off from an airport (Provided by Tenor)" id="290" name="Google Shape;290;p52"/>
          <p:cNvPicPr preferRelativeResize="0"/>
          <p:nvPr/>
        </p:nvPicPr>
        <p:blipFill rotWithShape="1">
          <a:blip r:embed="rId3">
            <a:alphaModFix/>
          </a:blip>
          <a:srcRect b="0" l="0" r="0" t="72849"/>
          <a:stretch/>
        </p:blipFill>
        <p:spPr>
          <a:xfrm>
            <a:off x="0" y="4753000"/>
            <a:ext cx="1943100" cy="390500"/>
          </a:xfrm>
          <a:prstGeom prst="rect">
            <a:avLst/>
          </a:prstGeom>
          <a:noFill/>
          <a:ln>
            <a:noFill/>
          </a:ln>
        </p:spPr>
      </p:pic>
      <p:pic>
        <p:nvPicPr>
          <p:cNvPr descr="a pixel art of an airplane taking off from an airport (Provided by Tenor)" id="291" name="Google Shape;291;p52"/>
          <p:cNvPicPr preferRelativeResize="0"/>
          <p:nvPr/>
        </p:nvPicPr>
        <p:blipFill rotWithShape="1">
          <a:blip r:embed="rId3">
            <a:alphaModFix/>
          </a:blip>
          <a:srcRect b="0" l="0" r="0" t="72849"/>
          <a:stretch/>
        </p:blipFill>
        <p:spPr>
          <a:xfrm>
            <a:off x="3886200" y="4753000"/>
            <a:ext cx="1943100" cy="390500"/>
          </a:xfrm>
          <a:prstGeom prst="rect">
            <a:avLst/>
          </a:prstGeom>
          <a:noFill/>
          <a:ln>
            <a:noFill/>
          </a:ln>
        </p:spPr>
      </p:pic>
      <p:pic>
        <p:nvPicPr>
          <p:cNvPr descr="a pixel art of an airplane taking off from an airport (Provided by Tenor)" id="292" name="Google Shape;292;p52"/>
          <p:cNvPicPr preferRelativeResize="0"/>
          <p:nvPr/>
        </p:nvPicPr>
        <p:blipFill rotWithShape="1">
          <a:blip r:embed="rId3">
            <a:alphaModFix/>
          </a:blip>
          <a:srcRect b="0" l="0" r="0" t="72849"/>
          <a:stretch/>
        </p:blipFill>
        <p:spPr>
          <a:xfrm>
            <a:off x="5829300" y="4753000"/>
            <a:ext cx="1943100" cy="390500"/>
          </a:xfrm>
          <a:prstGeom prst="rect">
            <a:avLst/>
          </a:prstGeom>
          <a:noFill/>
          <a:ln>
            <a:noFill/>
          </a:ln>
        </p:spPr>
      </p:pic>
      <p:pic>
        <p:nvPicPr>
          <p:cNvPr descr="a pixel art of an airplane taking off from an airport (Provided by Tenor)" id="293" name="Google Shape;293;p52"/>
          <p:cNvPicPr preferRelativeResize="0"/>
          <p:nvPr/>
        </p:nvPicPr>
        <p:blipFill rotWithShape="1">
          <a:blip r:embed="rId3">
            <a:alphaModFix/>
          </a:blip>
          <a:srcRect b="0" l="0" r="29413" t="72849"/>
          <a:stretch/>
        </p:blipFill>
        <p:spPr>
          <a:xfrm>
            <a:off x="7772400" y="4753000"/>
            <a:ext cx="1371600" cy="390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97" name="Shape 297"/>
        <p:cNvGrpSpPr/>
        <p:nvPr/>
      </p:nvGrpSpPr>
      <p:grpSpPr>
        <a:xfrm>
          <a:off x="0" y="0"/>
          <a:ext cx="0" cy="0"/>
          <a:chOff x="0" y="0"/>
          <a:chExt cx="0" cy="0"/>
        </a:xfrm>
      </p:grpSpPr>
      <p:sp>
        <p:nvSpPr>
          <p:cNvPr id="298" name="Google Shape;298;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299" name="Google Shape;299;p53"/>
          <p:cNvSpPr txBox="1"/>
          <p:nvPr>
            <p:ph idx="1" type="body"/>
          </p:nvPr>
        </p:nvSpPr>
        <p:spPr>
          <a:xfrm>
            <a:off x="311700" y="1152475"/>
            <a:ext cx="5234100" cy="3822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Compare water levels in different urban land models (pavement vs. grass)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Track runoff speed and volume during “rain” simulations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data from areas around school campuses (like storm drains)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Study how green infrastructure can reduce flooding</a:t>
            </a:r>
            <a:endParaRPr sz="2000">
              <a:solidFill>
                <a:srgbClr val="3D85C6"/>
              </a:solidFill>
              <a:latin typeface="Oswald ExtraLight"/>
              <a:ea typeface="Oswald ExtraLight"/>
              <a:cs typeface="Oswald ExtraLight"/>
              <a:sym typeface="Oswald ExtraLight"/>
            </a:endParaRPr>
          </a:p>
        </p:txBody>
      </p:sp>
      <p:pic>
        <p:nvPicPr>
          <p:cNvPr id="300" name="Google Shape;300;p53"/>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04" name="Shape 304"/>
        <p:cNvGrpSpPr/>
        <p:nvPr/>
      </p:nvGrpSpPr>
      <p:grpSpPr>
        <a:xfrm>
          <a:off x="0" y="0"/>
          <a:ext cx="0" cy="0"/>
          <a:chOff x="0" y="0"/>
          <a:chExt cx="0" cy="0"/>
        </a:xfrm>
      </p:grpSpPr>
      <p:sp>
        <p:nvSpPr>
          <p:cNvPr id="305" name="Google Shape;305;p54"/>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Tracking Climate Change with a Water Level Sensor</a:t>
            </a:r>
            <a:endParaRPr sz="5200">
              <a:solidFill>
                <a:srgbClr val="1C4587"/>
              </a:solidFill>
              <a:latin typeface="Oswald Light"/>
              <a:ea typeface="Oswald Light"/>
              <a:cs typeface="Oswald Light"/>
              <a:sym typeface="Oswald Light"/>
            </a:endParaRPr>
          </a:p>
        </p:txBody>
      </p:sp>
      <p:sp>
        <p:nvSpPr>
          <p:cNvPr id="306" name="Google Shape;306;p54"/>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10" name="Shape 310"/>
        <p:cNvGrpSpPr/>
        <p:nvPr/>
      </p:nvGrpSpPr>
      <p:grpSpPr>
        <a:xfrm>
          <a:off x="0" y="0"/>
          <a:ext cx="0" cy="0"/>
          <a:chOff x="0" y="0"/>
          <a:chExt cx="0" cy="0"/>
        </a:xfrm>
      </p:grpSpPr>
      <p:sp>
        <p:nvSpPr>
          <p:cNvPr id="311" name="Google Shape;311;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Climate Change?</a:t>
            </a:r>
            <a:endParaRPr sz="3211">
              <a:solidFill>
                <a:srgbClr val="1C4587"/>
              </a:solidFill>
              <a:latin typeface="Oswald Light"/>
              <a:ea typeface="Oswald Light"/>
              <a:cs typeface="Oswald Light"/>
              <a:sym typeface="Oswald Light"/>
            </a:endParaRPr>
          </a:p>
        </p:txBody>
      </p:sp>
      <p:sp>
        <p:nvSpPr>
          <p:cNvPr id="312" name="Google Shape;312;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Climate change is the long term shift in Earth’s weather patterns and temperatures. This is mainly caused by human activities such as burning fossil fuels, which release harmful greenhouse gases into the atmosphere. These pollutants get trapped in the atmosphere, which cause hotter temperatures, stronger storms, rising sea levels, and other changes in ecosystems. This affects not only the plants and animals but also us. </a:t>
            </a:r>
            <a:endParaRPr sz="2000">
              <a:solidFill>
                <a:srgbClr val="3D85C6"/>
              </a:solidFill>
              <a:latin typeface="Oswald ExtraLight"/>
              <a:ea typeface="Oswald ExtraLight"/>
              <a:cs typeface="Oswald ExtraLight"/>
              <a:sym typeface="Oswald ExtraLight"/>
            </a:endParaRPr>
          </a:p>
        </p:txBody>
      </p:sp>
      <p:pic>
        <p:nvPicPr>
          <p:cNvPr descr="Global warming concept. Climat change. Ice melting. Drought. Vector (Provided by Getty Images)" id="313" name="Google Shape;313;p55"/>
          <p:cNvPicPr preferRelativeResize="0"/>
          <p:nvPr/>
        </p:nvPicPr>
        <p:blipFill>
          <a:blip r:embed="rId3">
            <a:alphaModFix/>
          </a:blip>
          <a:stretch>
            <a:fillRect/>
          </a:stretch>
        </p:blipFill>
        <p:spPr>
          <a:xfrm>
            <a:off x="3383200" y="2753200"/>
            <a:ext cx="3335475" cy="21954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17" name="Shape 317"/>
        <p:cNvGrpSpPr/>
        <p:nvPr/>
      </p:nvGrpSpPr>
      <p:grpSpPr>
        <a:xfrm>
          <a:off x="0" y="0"/>
          <a:ext cx="0" cy="0"/>
          <a:chOff x="0" y="0"/>
          <a:chExt cx="0" cy="0"/>
        </a:xfrm>
      </p:grpSpPr>
      <p:sp>
        <p:nvSpPr>
          <p:cNvPr id="318" name="Google Shape;318;p56"/>
          <p:cNvSpPr txBox="1"/>
          <p:nvPr>
            <p:ph type="title"/>
          </p:nvPr>
        </p:nvSpPr>
        <p:spPr>
          <a:xfrm>
            <a:off x="311700" y="445025"/>
            <a:ext cx="8520600" cy="7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Track Climate Change Trends in a Classroom?</a:t>
            </a:r>
            <a:endParaRPr sz="3211">
              <a:solidFill>
                <a:srgbClr val="1C4587"/>
              </a:solidFill>
              <a:latin typeface="Oswald Light"/>
              <a:ea typeface="Oswald Light"/>
              <a:cs typeface="Oswald Light"/>
              <a:sym typeface="Oswald Light"/>
            </a:endParaRPr>
          </a:p>
        </p:txBody>
      </p:sp>
      <p:sp>
        <p:nvSpPr>
          <p:cNvPr id="319" name="Google Shape;319;p56"/>
          <p:cNvSpPr txBox="1"/>
          <p:nvPr>
            <p:ph idx="1" type="body"/>
          </p:nvPr>
        </p:nvSpPr>
        <p:spPr>
          <a:xfrm>
            <a:off x="311700" y="1243625"/>
            <a:ext cx="8520600" cy="212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run repeated “storm events” in a model over several weeks, tracking water level changes with the sensor. They simulate sea-level rise by slowly adding water to a coastal model. Graphing the results helps them spot trends and understand how climate change alters rainfall, flooding, and coastal flooding patterns.</a:t>
            </a:r>
            <a:endParaRPr sz="2000">
              <a:solidFill>
                <a:srgbClr val="3D85C6"/>
              </a:solidFill>
              <a:latin typeface="Oswald ExtraLight"/>
              <a:ea typeface="Oswald ExtraLight"/>
              <a:cs typeface="Oswald ExtraLight"/>
              <a:sym typeface="Oswald ExtraLight"/>
            </a:endParaRPr>
          </a:p>
        </p:txBody>
      </p:sp>
      <p:pic>
        <p:nvPicPr>
          <p:cNvPr id="320" name="Google Shape;320;p56"/>
          <p:cNvPicPr preferRelativeResize="0"/>
          <p:nvPr/>
        </p:nvPicPr>
        <p:blipFill>
          <a:blip r:embed="rId3">
            <a:alphaModFix/>
          </a:blip>
          <a:stretch>
            <a:fillRect/>
          </a:stretch>
        </p:blipFill>
        <p:spPr>
          <a:xfrm>
            <a:off x="4349000" y="3132550"/>
            <a:ext cx="4483300" cy="1855588"/>
          </a:xfrm>
          <a:prstGeom prst="rect">
            <a:avLst/>
          </a:prstGeom>
          <a:noFill/>
          <a:ln>
            <a:noFill/>
          </a:ln>
        </p:spPr>
      </p:pic>
      <p:pic>
        <p:nvPicPr>
          <p:cNvPr id="321" name="Google Shape;321;p56"/>
          <p:cNvPicPr preferRelativeResize="0"/>
          <p:nvPr/>
        </p:nvPicPr>
        <p:blipFill>
          <a:blip r:embed="rId4">
            <a:alphaModFix/>
          </a:blip>
          <a:stretch>
            <a:fillRect/>
          </a:stretch>
        </p:blipFill>
        <p:spPr>
          <a:xfrm>
            <a:off x="1130758" y="3367925"/>
            <a:ext cx="2727301" cy="16432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25" name="Shape 325"/>
        <p:cNvGrpSpPr/>
        <p:nvPr/>
      </p:nvGrpSpPr>
      <p:grpSpPr>
        <a:xfrm>
          <a:off x="0" y="0"/>
          <a:ext cx="0" cy="0"/>
          <a:chOff x="0" y="0"/>
          <a:chExt cx="0" cy="0"/>
        </a:xfrm>
      </p:grpSpPr>
      <p:sp>
        <p:nvSpPr>
          <p:cNvPr id="326" name="Google Shape;326;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327" name="Google Shape;327;p57"/>
          <p:cNvSpPr txBox="1"/>
          <p:nvPr>
            <p:ph idx="1" type="body"/>
          </p:nvPr>
        </p:nvSpPr>
        <p:spPr>
          <a:xfrm>
            <a:off x="311700" y="1152475"/>
            <a:ext cx="5234100" cy="3822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Observe how rainfall and flooding patterns might be changing</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Record long-term trends in water levels for analysis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Simulate rising seas in classroom models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evidence for climate-related impacts on ecosystems</a:t>
            </a:r>
            <a:endParaRPr sz="2000">
              <a:solidFill>
                <a:srgbClr val="3D85C6"/>
              </a:solidFill>
              <a:latin typeface="Oswald ExtraLight"/>
              <a:ea typeface="Oswald ExtraLight"/>
              <a:cs typeface="Oswald ExtraLight"/>
              <a:sym typeface="Oswald ExtraLight"/>
            </a:endParaRPr>
          </a:p>
        </p:txBody>
      </p:sp>
      <p:pic>
        <p:nvPicPr>
          <p:cNvPr id="328" name="Google Shape;328;p57"/>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32" name="Shape 332"/>
        <p:cNvGrpSpPr/>
        <p:nvPr/>
      </p:nvGrpSpPr>
      <p:grpSpPr>
        <a:xfrm>
          <a:off x="0" y="0"/>
          <a:ext cx="0" cy="0"/>
          <a:chOff x="0" y="0"/>
          <a:chExt cx="0" cy="0"/>
        </a:xfrm>
      </p:grpSpPr>
      <p:sp>
        <p:nvSpPr>
          <p:cNvPr id="333" name="Google Shape;333;p58"/>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1C4587"/>
                </a:solidFill>
                <a:latin typeface="Oswald Light"/>
                <a:ea typeface="Oswald Light"/>
                <a:cs typeface="Oswald Light"/>
                <a:sym typeface="Oswald Light"/>
              </a:rPr>
              <a:t>Understanding Community Science with a Water Level Sensor</a:t>
            </a:r>
            <a:endParaRPr sz="5200">
              <a:solidFill>
                <a:srgbClr val="1C4587"/>
              </a:solidFill>
              <a:latin typeface="Oswald Light"/>
              <a:ea typeface="Oswald Light"/>
              <a:cs typeface="Oswald Light"/>
              <a:sym typeface="Oswald Light"/>
            </a:endParaRPr>
          </a:p>
        </p:txBody>
      </p:sp>
      <p:sp>
        <p:nvSpPr>
          <p:cNvPr id="334" name="Google Shape;334;p58"/>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3D85C6"/>
                </a:solidFill>
                <a:latin typeface="Oswald Light"/>
                <a:ea typeface="Oswald Light"/>
                <a:cs typeface="Oswald Light"/>
                <a:sym typeface="Oswald Light"/>
              </a:rPr>
              <a:t>High School Level</a:t>
            </a:r>
            <a:endParaRPr sz="3500">
              <a:solidFill>
                <a:srgbClr val="3D85C6"/>
              </a:solidFill>
              <a:latin typeface="Oswald Light"/>
              <a:ea typeface="Oswald Light"/>
              <a:cs typeface="Oswald Light"/>
              <a:sym typeface="Oswald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38" name="Shape 338"/>
        <p:cNvGrpSpPr/>
        <p:nvPr/>
      </p:nvGrpSpPr>
      <p:grpSpPr>
        <a:xfrm>
          <a:off x="0" y="0"/>
          <a:ext cx="0" cy="0"/>
          <a:chOff x="0" y="0"/>
          <a:chExt cx="0" cy="0"/>
        </a:xfrm>
      </p:grpSpPr>
      <p:sp>
        <p:nvSpPr>
          <p:cNvPr id="339" name="Google Shape;339;p59"/>
          <p:cNvSpPr txBox="1"/>
          <p:nvPr>
            <p:ph type="title"/>
          </p:nvPr>
        </p:nvSpPr>
        <p:spPr>
          <a:xfrm>
            <a:off x="4570325" y="480200"/>
            <a:ext cx="426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What is Community Science?</a:t>
            </a:r>
            <a:endParaRPr sz="3211">
              <a:solidFill>
                <a:srgbClr val="1C4587"/>
              </a:solidFill>
              <a:latin typeface="Oswald Light"/>
              <a:ea typeface="Oswald Light"/>
              <a:cs typeface="Oswald Light"/>
              <a:sym typeface="Oswald Light"/>
            </a:endParaRPr>
          </a:p>
        </p:txBody>
      </p:sp>
      <p:sp>
        <p:nvSpPr>
          <p:cNvPr id="340" name="Google Shape;340;p59"/>
          <p:cNvSpPr txBox="1"/>
          <p:nvPr>
            <p:ph idx="1" type="body"/>
          </p:nvPr>
        </p:nvSpPr>
        <p:spPr>
          <a:xfrm>
            <a:off x="4442075" y="1152475"/>
            <a:ext cx="4516800" cy="386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3D85C6"/>
                </a:solidFill>
                <a:latin typeface="Oswald ExtraLight"/>
                <a:ea typeface="Oswald ExtraLight"/>
                <a:cs typeface="Oswald ExtraLight"/>
                <a:sym typeface="Oswald ExtraLight"/>
              </a:rPr>
              <a:t>Community science refers to when regular people help scientist collect data or make observations about the environment around them. An example of this can be people reporting the local weather for the day or tracking the quality of their water at home or in local bodies of water around them. This helps scientist gather more information and data than they could gather alone. This also lets people get involved and help make a change.  </a:t>
            </a:r>
            <a:endParaRPr sz="2000">
              <a:solidFill>
                <a:srgbClr val="3D85C6"/>
              </a:solidFill>
              <a:latin typeface="Oswald ExtraLight"/>
              <a:ea typeface="Oswald ExtraLight"/>
              <a:cs typeface="Oswald ExtraLight"/>
              <a:sym typeface="Oswald ExtraLight"/>
            </a:endParaRPr>
          </a:p>
        </p:txBody>
      </p:sp>
      <p:pic>
        <p:nvPicPr>
          <p:cNvPr descr="Four Day Weather Forecast Graphic with Temperature and Icons (Provided by Getty Images)" id="341" name="Google Shape;341;p59"/>
          <p:cNvPicPr preferRelativeResize="0"/>
          <p:nvPr/>
        </p:nvPicPr>
        <p:blipFill>
          <a:blip r:embed="rId3">
            <a:alphaModFix/>
          </a:blip>
          <a:stretch>
            <a:fillRect/>
          </a:stretch>
        </p:blipFill>
        <p:spPr>
          <a:xfrm>
            <a:off x="104925" y="135424"/>
            <a:ext cx="4260301" cy="2839500"/>
          </a:xfrm>
          <a:prstGeom prst="rect">
            <a:avLst/>
          </a:prstGeom>
          <a:noFill/>
          <a:ln>
            <a:noFill/>
          </a:ln>
        </p:spPr>
      </p:pic>
      <p:pic>
        <p:nvPicPr>
          <p:cNvPr descr="Environmental Testing: Close-up of Water Sample in Test Tube for Analysis, copy space (Provided by Getty Images)" id="342" name="Google Shape;342;p59"/>
          <p:cNvPicPr preferRelativeResize="0"/>
          <p:nvPr/>
        </p:nvPicPr>
        <p:blipFill>
          <a:blip r:embed="rId4">
            <a:alphaModFix/>
          </a:blip>
          <a:stretch>
            <a:fillRect/>
          </a:stretch>
        </p:blipFill>
        <p:spPr>
          <a:xfrm>
            <a:off x="836900" y="3152999"/>
            <a:ext cx="2796349" cy="186377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46" name="Shape 346"/>
        <p:cNvGrpSpPr/>
        <p:nvPr/>
      </p:nvGrpSpPr>
      <p:grpSpPr>
        <a:xfrm>
          <a:off x="0" y="0"/>
          <a:ext cx="0" cy="0"/>
          <a:chOff x="0" y="0"/>
          <a:chExt cx="0" cy="0"/>
        </a:xfrm>
      </p:grpSpPr>
      <p:sp>
        <p:nvSpPr>
          <p:cNvPr id="347" name="Google Shape;347;p60"/>
          <p:cNvSpPr txBox="1"/>
          <p:nvPr>
            <p:ph type="title"/>
          </p:nvPr>
        </p:nvSpPr>
        <p:spPr>
          <a:xfrm>
            <a:off x="311700" y="445025"/>
            <a:ext cx="8520600" cy="7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Can We Help the Local Community in a Classroom?</a:t>
            </a:r>
            <a:endParaRPr sz="3211">
              <a:solidFill>
                <a:srgbClr val="1C4587"/>
              </a:solidFill>
              <a:latin typeface="Oswald Light"/>
              <a:ea typeface="Oswald Light"/>
              <a:cs typeface="Oswald Light"/>
              <a:sym typeface="Oswald Light"/>
            </a:endParaRPr>
          </a:p>
        </p:txBody>
      </p:sp>
      <p:sp>
        <p:nvSpPr>
          <p:cNvPr id="348" name="Google Shape;348;p60"/>
          <p:cNvSpPr txBox="1"/>
          <p:nvPr>
            <p:ph idx="1" type="body"/>
          </p:nvPr>
        </p:nvSpPr>
        <p:spPr>
          <a:xfrm>
            <a:off x="311700" y="1243625"/>
            <a:ext cx="4505100" cy="368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D85C6"/>
                </a:solidFill>
                <a:latin typeface="Oswald"/>
                <a:ea typeface="Oswald"/>
                <a:cs typeface="Oswald"/>
                <a:sym typeface="Oswald"/>
              </a:rPr>
              <a:t>Activity: </a:t>
            </a:r>
            <a:endParaRPr b="1" sz="2000">
              <a:solidFill>
                <a:srgbClr val="3D85C6"/>
              </a:solidFill>
              <a:latin typeface="Oswald"/>
              <a:ea typeface="Oswald"/>
              <a:cs typeface="Oswald"/>
              <a:sym typeface="Oswald"/>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Students use the water level sensor to monitor flooding in safe, approved locations (schoolyard, park) during real rain events. They share their findings with local groups or officials and create graphs or displays to raise awareness. This turns data collection into a real community science project with civic impact.</a:t>
            </a:r>
            <a:endParaRPr sz="2000">
              <a:solidFill>
                <a:srgbClr val="3D85C6"/>
              </a:solidFill>
              <a:latin typeface="Oswald ExtraLight"/>
              <a:ea typeface="Oswald ExtraLight"/>
              <a:cs typeface="Oswald ExtraLight"/>
              <a:sym typeface="Oswald ExtraLight"/>
            </a:endParaRPr>
          </a:p>
        </p:txBody>
      </p:sp>
      <p:pic>
        <p:nvPicPr>
          <p:cNvPr descr="Children playground in park near school yard. Summer break. (Provided by Getty Images)" id="349" name="Google Shape;349;p60"/>
          <p:cNvPicPr preferRelativeResize="0"/>
          <p:nvPr/>
        </p:nvPicPr>
        <p:blipFill>
          <a:blip r:embed="rId3">
            <a:alphaModFix/>
          </a:blip>
          <a:stretch>
            <a:fillRect/>
          </a:stretch>
        </p:blipFill>
        <p:spPr>
          <a:xfrm>
            <a:off x="4908775" y="1093725"/>
            <a:ext cx="2861123" cy="1906949"/>
          </a:xfrm>
          <a:prstGeom prst="rect">
            <a:avLst/>
          </a:prstGeom>
          <a:noFill/>
          <a:ln>
            <a:noFill/>
          </a:ln>
        </p:spPr>
      </p:pic>
      <p:pic>
        <p:nvPicPr>
          <p:cNvPr descr="Big Spring Park in downtown  Huntsville, Alabama (Provided by Getty Images)" id="350" name="Google Shape;350;p60"/>
          <p:cNvPicPr preferRelativeResize="0"/>
          <p:nvPr/>
        </p:nvPicPr>
        <p:blipFill>
          <a:blip r:embed="rId4">
            <a:alphaModFix/>
          </a:blip>
          <a:stretch>
            <a:fillRect/>
          </a:stretch>
        </p:blipFill>
        <p:spPr>
          <a:xfrm>
            <a:off x="6121126" y="3000675"/>
            <a:ext cx="3022874" cy="20472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54" name="Shape 354"/>
        <p:cNvGrpSpPr/>
        <p:nvPr/>
      </p:nvGrpSpPr>
      <p:grpSpPr>
        <a:xfrm>
          <a:off x="0" y="0"/>
          <a:ext cx="0" cy="0"/>
          <a:chOff x="0" y="0"/>
          <a:chExt cx="0" cy="0"/>
        </a:xfrm>
      </p:grpSpPr>
      <p:sp>
        <p:nvSpPr>
          <p:cNvPr id="355" name="Google Shape;355;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11">
                <a:solidFill>
                  <a:srgbClr val="1C4587"/>
                </a:solidFill>
                <a:latin typeface="Oswald Light"/>
                <a:ea typeface="Oswald Light"/>
                <a:cs typeface="Oswald Light"/>
                <a:sym typeface="Oswald Light"/>
              </a:rPr>
              <a:t>How the Sensor Helps</a:t>
            </a:r>
            <a:endParaRPr sz="3211">
              <a:solidFill>
                <a:srgbClr val="1C4587"/>
              </a:solidFill>
              <a:latin typeface="Oswald Light"/>
              <a:ea typeface="Oswald Light"/>
              <a:cs typeface="Oswald Light"/>
              <a:sym typeface="Oswald Light"/>
            </a:endParaRPr>
          </a:p>
        </p:txBody>
      </p:sp>
      <p:sp>
        <p:nvSpPr>
          <p:cNvPr id="356" name="Google Shape;356;p61"/>
          <p:cNvSpPr txBox="1"/>
          <p:nvPr>
            <p:ph idx="1" type="body"/>
          </p:nvPr>
        </p:nvSpPr>
        <p:spPr>
          <a:xfrm>
            <a:off x="311700" y="1152475"/>
            <a:ext cx="5234100" cy="3822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000">
                <a:solidFill>
                  <a:srgbClr val="3D85C6"/>
                </a:solidFill>
                <a:latin typeface="Oswald ExtraLight"/>
                <a:ea typeface="Oswald ExtraLight"/>
                <a:cs typeface="Oswald ExtraLight"/>
                <a:sym typeface="Oswald ExtraLight"/>
              </a:rPr>
              <a:t>The IO Rodeo water level sensor helps students:</a:t>
            </a:r>
            <a:endParaRPr sz="2000">
              <a:solidFill>
                <a:srgbClr val="3D85C6"/>
              </a:solidFill>
              <a:latin typeface="Oswald ExtraLight"/>
              <a:ea typeface="Oswald ExtraLight"/>
              <a:cs typeface="Oswald ExtraLight"/>
              <a:sym typeface="Oswald ExtraLight"/>
            </a:endParaRPr>
          </a:p>
          <a:p>
            <a:pPr indent="-355600" lvl="0" marL="457200" rtl="0" algn="l">
              <a:spcBef>
                <a:spcPts val="120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Collect data from schoolyards, parks, or streams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Share results with their town, watershed groups, or community leaders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Monitor storm drains or low-lying areas during real rain events</a:t>
            </a:r>
            <a:br>
              <a:rPr lang="en" sz="2000">
                <a:solidFill>
                  <a:srgbClr val="3D85C6"/>
                </a:solidFill>
                <a:latin typeface="Oswald ExtraLight"/>
                <a:ea typeface="Oswald ExtraLight"/>
                <a:cs typeface="Oswald ExtraLight"/>
                <a:sym typeface="Oswald ExtraLight"/>
              </a:rPr>
            </a:br>
            <a:endParaRPr sz="2000">
              <a:solidFill>
                <a:srgbClr val="3D85C6"/>
              </a:solidFill>
              <a:latin typeface="Oswald ExtraLight"/>
              <a:ea typeface="Oswald ExtraLight"/>
              <a:cs typeface="Oswald ExtraLight"/>
              <a:sym typeface="Oswald ExtraLight"/>
            </a:endParaRPr>
          </a:p>
          <a:p>
            <a:pPr indent="-355600" lvl="0" marL="457200" rtl="0" algn="l">
              <a:spcBef>
                <a:spcPts val="0"/>
              </a:spcBef>
              <a:spcAft>
                <a:spcPts val="0"/>
              </a:spcAft>
              <a:buClr>
                <a:srgbClr val="3D85C6"/>
              </a:buClr>
              <a:buSzPts val="2000"/>
              <a:buFont typeface="Oswald ExtraLight"/>
              <a:buChar char="-"/>
            </a:pPr>
            <a:r>
              <a:rPr lang="en" sz="2000">
                <a:solidFill>
                  <a:srgbClr val="3D85C6"/>
                </a:solidFill>
                <a:latin typeface="Oswald ExtraLight"/>
                <a:ea typeface="Oswald ExtraLight"/>
                <a:cs typeface="Oswald ExtraLight"/>
                <a:sym typeface="Oswald ExtraLight"/>
              </a:rPr>
              <a:t>Create reports or presentations that drive action</a:t>
            </a:r>
            <a:endParaRPr sz="2000">
              <a:solidFill>
                <a:srgbClr val="3D85C6"/>
              </a:solidFill>
              <a:latin typeface="Oswald ExtraLight"/>
              <a:ea typeface="Oswald ExtraLight"/>
              <a:cs typeface="Oswald ExtraLight"/>
              <a:sym typeface="Oswald ExtraLight"/>
            </a:endParaRPr>
          </a:p>
        </p:txBody>
      </p:sp>
      <p:pic>
        <p:nvPicPr>
          <p:cNvPr id="357" name="Google Shape;357;p61"/>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